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57" r:id="rId2"/>
    <p:sldId id="358" r:id="rId3"/>
    <p:sldId id="366" r:id="rId4"/>
    <p:sldId id="367" r:id="rId5"/>
    <p:sldId id="430" r:id="rId6"/>
    <p:sldId id="431" r:id="rId7"/>
    <p:sldId id="432" r:id="rId8"/>
    <p:sldId id="433" r:id="rId9"/>
    <p:sldId id="434" r:id="rId10"/>
    <p:sldId id="462" r:id="rId11"/>
    <p:sldId id="463" r:id="rId12"/>
    <p:sldId id="444" r:id="rId13"/>
    <p:sldId id="464" r:id="rId14"/>
    <p:sldId id="465" r:id="rId15"/>
    <p:sldId id="466" r:id="rId16"/>
    <p:sldId id="467" r:id="rId17"/>
    <p:sldId id="468" r:id="rId18"/>
    <p:sldId id="469" r:id="rId19"/>
    <p:sldId id="470" r:id="rId20"/>
    <p:sldId id="471" r:id="rId21"/>
    <p:sldId id="472" r:id="rId22"/>
    <p:sldId id="445" r:id="rId23"/>
    <p:sldId id="473" r:id="rId24"/>
    <p:sldId id="474" r:id="rId25"/>
    <p:sldId id="475" r:id="rId26"/>
    <p:sldId id="429" r:id="rId27"/>
    <p:sldId id="34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19D2"/>
    <a:srgbClr val="E71D3A"/>
    <a:srgbClr val="E0E509"/>
    <a:srgbClr val="F735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E7196-0A1D-43F9-96F8-6131A8C3E5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91A347-14E4-4DA6-8466-E20F5DD0C1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25BB59-6C06-4608-B9C2-AFD556E0E88B}"/>
              </a:ext>
            </a:extLst>
          </p:cNvPr>
          <p:cNvSpPr>
            <a:spLocks noGrp="1"/>
          </p:cNvSpPr>
          <p:nvPr>
            <p:ph type="dt" sz="half" idx="10"/>
          </p:nvPr>
        </p:nvSpPr>
        <p:spPr/>
        <p:txBody>
          <a:bodyPr/>
          <a:lstStyle/>
          <a:p>
            <a:fld id="{3717A1C5-95F7-4229-A93B-29F7FF3DA000}" type="datetimeFigureOut">
              <a:rPr lang="en-IN" smtClean="0"/>
              <a:pPr/>
              <a:t>18-11-2023</a:t>
            </a:fld>
            <a:endParaRPr lang="en-IN"/>
          </a:p>
        </p:txBody>
      </p:sp>
      <p:sp>
        <p:nvSpPr>
          <p:cNvPr id="5" name="Footer Placeholder 4">
            <a:extLst>
              <a:ext uri="{FF2B5EF4-FFF2-40B4-BE49-F238E27FC236}">
                <a16:creationId xmlns:a16="http://schemas.microsoft.com/office/drawing/2014/main" id="{DE024737-A7EA-405D-9C53-00DC763580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AFCA8F-5152-4E17-A634-AAC30C0A16CE}"/>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50938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97697-0E3B-45DE-993E-41D6192C54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F5D431-817D-468E-AC74-4AEFB8C24B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E66076-D71B-432E-B3DA-D6BFA8E70485}"/>
              </a:ext>
            </a:extLst>
          </p:cNvPr>
          <p:cNvSpPr>
            <a:spLocks noGrp="1"/>
          </p:cNvSpPr>
          <p:nvPr>
            <p:ph type="dt" sz="half" idx="10"/>
          </p:nvPr>
        </p:nvSpPr>
        <p:spPr/>
        <p:txBody>
          <a:bodyPr/>
          <a:lstStyle/>
          <a:p>
            <a:fld id="{3717A1C5-95F7-4229-A93B-29F7FF3DA000}" type="datetimeFigureOut">
              <a:rPr lang="en-IN" smtClean="0"/>
              <a:pPr/>
              <a:t>18-11-2023</a:t>
            </a:fld>
            <a:endParaRPr lang="en-IN"/>
          </a:p>
        </p:txBody>
      </p:sp>
      <p:sp>
        <p:nvSpPr>
          <p:cNvPr id="5" name="Footer Placeholder 4">
            <a:extLst>
              <a:ext uri="{FF2B5EF4-FFF2-40B4-BE49-F238E27FC236}">
                <a16:creationId xmlns:a16="http://schemas.microsoft.com/office/drawing/2014/main" id="{86E9EAE1-A891-420F-AABF-E5D357075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050AF0-4B82-4D90-9977-2702EFAD047E}"/>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3998037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76000-B1F3-49B4-8840-4F2FE09F31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9AD8B6-0C53-47EB-9E27-9A8CFF9C0D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4A0F0A-5BC1-44A8-A937-DAAFBEA3CE4A}"/>
              </a:ext>
            </a:extLst>
          </p:cNvPr>
          <p:cNvSpPr>
            <a:spLocks noGrp="1"/>
          </p:cNvSpPr>
          <p:nvPr>
            <p:ph type="dt" sz="half" idx="10"/>
          </p:nvPr>
        </p:nvSpPr>
        <p:spPr/>
        <p:txBody>
          <a:bodyPr/>
          <a:lstStyle/>
          <a:p>
            <a:fld id="{3717A1C5-95F7-4229-A93B-29F7FF3DA000}" type="datetimeFigureOut">
              <a:rPr lang="en-IN" smtClean="0"/>
              <a:pPr/>
              <a:t>18-11-2023</a:t>
            </a:fld>
            <a:endParaRPr lang="en-IN"/>
          </a:p>
        </p:txBody>
      </p:sp>
      <p:sp>
        <p:nvSpPr>
          <p:cNvPr id="5" name="Footer Placeholder 4">
            <a:extLst>
              <a:ext uri="{FF2B5EF4-FFF2-40B4-BE49-F238E27FC236}">
                <a16:creationId xmlns:a16="http://schemas.microsoft.com/office/drawing/2014/main" id="{D516B7DB-3DF3-4E87-84F1-6D3BB836F2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586888-F8BA-4159-BE04-8C9B0A74B0BB}"/>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891180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BC13-A691-4A44-8F09-DEAB94E6E2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0470BA-CF69-482F-86D7-B3B2B81039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EF3F02-F9D9-4D4B-932D-10D3C70151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154D0B3-961E-4BAC-9CA4-08D89CF82A20}"/>
              </a:ext>
            </a:extLst>
          </p:cNvPr>
          <p:cNvSpPr>
            <a:spLocks noGrp="1"/>
          </p:cNvSpPr>
          <p:nvPr>
            <p:ph type="dt" sz="half" idx="10"/>
          </p:nvPr>
        </p:nvSpPr>
        <p:spPr/>
        <p:txBody>
          <a:bodyPr/>
          <a:lstStyle/>
          <a:p>
            <a:fld id="{3717A1C5-95F7-4229-A93B-29F7FF3DA000}" type="datetimeFigureOut">
              <a:rPr lang="en-IN" smtClean="0"/>
              <a:pPr/>
              <a:t>18-11-2023</a:t>
            </a:fld>
            <a:endParaRPr lang="en-IN"/>
          </a:p>
        </p:txBody>
      </p:sp>
      <p:sp>
        <p:nvSpPr>
          <p:cNvPr id="6" name="Footer Placeholder 5">
            <a:extLst>
              <a:ext uri="{FF2B5EF4-FFF2-40B4-BE49-F238E27FC236}">
                <a16:creationId xmlns:a16="http://schemas.microsoft.com/office/drawing/2014/main" id="{8DD4364F-C564-48E4-84D0-352B17CE69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B6F2F7-150E-4C49-B6B7-8E72E6E8E5A4}"/>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175150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61F13-E7B0-4450-891A-12D3F00317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070134-48F1-45F0-9C63-38634B426A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F6F59C-8B0A-4097-8A5D-BA9FB1FC2E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0E4A01-83B3-465C-B056-C028FF594C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DF7CD2-C62B-450F-A438-929A17296D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13DBE79-A9B6-48AB-9F01-88AA6A05B5CE}"/>
              </a:ext>
            </a:extLst>
          </p:cNvPr>
          <p:cNvSpPr>
            <a:spLocks noGrp="1"/>
          </p:cNvSpPr>
          <p:nvPr>
            <p:ph type="dt" sz="half" idx="10"/>
          </p:nvPr>
        </p:nvSpPr>
        <p:spPr/>
        <p:txBody>
          <a:bodyPr/>
          <a:lstStyle/>
          <a:p>
            <a:fld id="{3717A1C5-95F7-4229-A93B-29F7FF3DA000}" type="datetimeFigureOut">
              <a:rPr lang="en-IN" smtClean="0"/>
              <a:pPr/>
              <a:t>18-11-2023</a:t>
            </a:fld>
            <a:endParaRPr lang="en-IN"/>
          </a:p>
        </p:txBody>
      </p:sp>
      <p:sp>
        <p:nvSpPr>
          <p:cNvPr id="8" name="Footer Placeholder 7">
            <a:extLst>
              <a:ext uri="{FF2B5EF4-FFF2-40B4-BE49-F238E27FC236}">
                <a16:creationId xmlns:a16="http://schemas.microsoft.com/office/drawing/2014/main" id="{FCA1A849-F61D-416C-82D9-FD2F0D5B297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4E5968-BD8E-49EA-B1C0-883FDCD51EFD}"/>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4074283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5C0C5-C1DF-4B30-86BF-702058A090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980EB2-6319-452D-816A-655EE9C34746}"/>
              </a:ext>
            </a:extLst>
          </p:cNvPr>
          <p:cNvSpPr>
            <a:spLocks noGrp="1"/>
          </p:cNvSpPr>
          <p:nvPr>
            <p:ph type="dt" sz="half" idx="10"/>
          </p:nvPr>
        </p:nvSpPr>
        <p:spPr/>
        <p:txBody>
          <a:bodyPr/>
          <a:lstStyle/>
          <a:p>
            <a:fld id="{3717A1C5-95F7-4229-A93B-29F7FF3DA000}" type="datetimeFigureOut">
              <a:rPr lang="en-IN" smtClean="0"/>
              <a:pPr/>
              <a:t>18-11-2023</a:t>
            </a:fld>
            <a:endParaRPr lang="en-IN"/>
          </a:p>
        </p:txBody>
      </p:sp>
      <p:sp>
        <p:nvSpPr>
          <p:cNvPr id="4" name="Footer Placeholder 3">
            <a:extLst>
              <a:ext uri="{FF2B5EF4-FFF2-40B4-BE49-F238E27FC236}">
                <a16:creationId xmlns:a16="http://schemas.microsoft.com/office/drawing/2014/main" id="{12847E02-77DD-4F7C-9461-431051F3087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5B48EC9-FFDF-4F14-A006-9ED08C221D7A}"/>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735135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AC4010-3CC3-4ED9-BC47-437A2B95829A}"/>
              </a:ext>
            </a:extLst>
          </p:cNvPr>
          <p:cNvSpPr>
            <a:spLocks noGrp="1"/>
          </p:cNvSpPr>
          <p:nvPr>
            <p:ph type="dt" sz="half" idx="10"/>
          </p:nvPr>
        </p:nvSpPr>
        <p:spPr/>
        <p:txBody>
          <a:bodyPr/>
          <a:lstStyle/>
          <a:p>
            <a:fld id="{3717A1C5-95F7-4229-A93B-29F7FF3DA000}" type="datetimeFigureOut">
              <a:rPr lang="en-IN" smtClean="0"/>
              <a:pPr/>
              <a:t>18-11-2023</a:t>
            </a:fld>
            <a:endParaRPr lang="en-IN"/>
          </a:p>
        </p:txBody>
      </p:sp>
      <p:sp>
        <p:nvSpPr>
          <p:cNvPr id="3" name="Footer Placeholder 2">
            <a:extLst>
              <a:ext uri="{FF2B5EF4-FFF2-40B4-BE49-F238E27FC236}">
                <a16:creationId xmlns:a16="http://schemas.microsoft.com/office/drawing/2014/main" id="{E80484C3-38E2-44A7-AD87-98DF739A72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707CE2B-838A-454A-852B-8EAFFA5BCF9F}"/>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1180888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18C39-136A-490F-82E6-B74F16102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4E3FA5-A6D0-407B-9353-45807BDC70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65529D-8A1D-4CEC-ACF2-A9668B5DFA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1B61FA-7B4A-49EE-9F1B-8F14E749EEA0}"/>
              </a:ext>
            </a:extLst>
          </p:cNvPr>
          <p:cNvSpPr>
            <a:spLocks noGrp="1"/>
          </p:cNvSpPr>
          <p:nvPr>
            <p:ph type="dt" sz="half" idx="10"/>
          </p:nvPr>
        </p:nvSpPr>
        <p:spPr/>
        <p:txBody>
          <a:bodyPr/>
          <a:lstStyle/>
          <a:p>
            <a:fld id="{3717A1C5-95F7-4229-A93B-29F7FF3DA000}" type="datetimeFigureOut">
              <a:rPr lang="en-IN" smtClean="0"/>
              <a:pPr/>
              <a:t>18-11-2023</a:t>
            </a:fld>
            <a:endParaRPr lang="en-IN"/>
          </a:p>
        </p:txBody>
      </p:sp>
      <p:sp>
        <p:nvSpPr>
          <p:cNvPr id="6" name="Footer Placeholder 5">
            <a:extLst>
              <a:ext uri="{FF2B5EF4-FFF2-40B4-BE49-F238E27FC236}">
                <a16:creationId xmlns:a16="http://schemas.microsoft.com/office/drawing/2014/main" id="{BB6BDBE7-EB71-426C-8E02-2F39733F7F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714907-13EA-4E79-8417-0EC5E502E486}"/>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3337483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C4529-7C3C-4D10-AD9C-86CB67D2BF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2173FF7-1E37-47DA-BCCB-AFDD0F6F84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C43DAF-8DA8-48F8-B118-56B11692BF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DBE107-EEF1-4F60-8BFB-A0B8F32EFE52}"/>
              </a:ext>
            </a:extLst>
          </p:cNvPr>
          <p:cNvSpPr>
            <a:spLocks noGrp="1"/>
          </p:cNvSpPr>
          <p:nvPr>
            <p:ph type="dt" sz="half" idx="10"/>
          </p:nvPr>
        </p:nvSpPr>
        <p:spPr/>
        <p:txBody>
          <a:bodyPr/>
          <a:lstStyle/>
          <a:p>
            <a:fld id="{3717A1C5-95F7-4229-A93B-29F7FF3DA000}" type="datetimeFigureOut">
              <a:rPr lang="en-IN" smtClean="0"/>
              <a:pPr/>
              <a:t>18-11-2023</a:t>
            </a:fld>
            <a:endParaRPr lang="en-IN"/>
          </a:p>
        </p:txBody>
      </p:sp>
      <p:sp>
        <p:nvSpPr>
          <p:cNvPr id="6" name="Footer Placeholder 5">
            <a:extLst>
              <a:ext uri="{FF2B5EF4-FFF2-40B4-BE49-F238E27FC236}">
                <a16:creationId xmlns:a16="http://schemas.microsoft.com/office/drawing/2014/main" id="{3BB2FC9C-1AB4-400D-8A60-C7B3A80585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25E51E-1606-443F-8DDC-5BC7A3D910FC}"/>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805698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81B9E-9443-4F41-8CDB-8E6E4CF2707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37440A-C0A0-4620-8CB7-BC24F4E100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ECDE26-EE92-4514-B595-DD288D69BDDA}"/>
              </a:ext>
            </a:extLst>
          </p:cNvPr>
          <p:cNvSpPr>
            <a:spLocks noGrp="1"/>
          </p:cNvSpPr>
          <p:nvPr>
            <p:ph type="dt" sz="half" idx="10"/>
          </p:nvPr>
        </p:nvSpPr>
        <p:spPr/>
        <p:txBody>
          <a:bodyPr/>
          <a:lstStyle/>
          <a:p>
            <a:fld id="{3717A1C5-95F7-4229-A93B-29F7FF3DA000}" type="datetimeFigureOut">
              <a:rPr lang="en-IN" smtClean="0"/>
              <a:pPr/>
              <a:t>18-11-2023</a:t>
            </a:fld>
            <a:endParaRPr lang="en-IN"/>
          </a:p>
        </p:txBody>
      </p:sp>
      <p:sp>
        <p:nvSpPr>
          <p:cNvPr id="5" name="Footer Placeholder 4">
            <a:extLst>
              <a:ext uri="{FF2B5EF4-FFF2-40B4-BE49-F238E27FC236}">
                <a16:creationId xmlns:a16="http://schemas.microsoft.com/office/drawing/2014/main" id="{CAB18649-6317-4A86-BF87-6BCCFA208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9FA2ED-B0E3-48EA-BF01-F14C24A36C7D}"/>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876270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195C72-B502-4011-AB72-4BBC7CCE94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A45A48-60F9-47B3-9E1A-0E76EE6ED6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C2F640-11BE-4566-9603-D1D7F7E96FC4}"/>
              </a:ext>
            </a:extLst>
          </p:cNvPr>
          <p:cNvSpPr>
            <a:spLocks noGrp="1"/>
          </p:cNvSpPr>
          <p:nvPr>
            <p:ph type="dt" sz="half" idx="10"/>
          </p:nvPr>
        </p:nvSpPr>
        <p:spPr/>
        <p:txBody>
          <a:bodyPr/>
          <a:lstStyle/>
          <a:p>
            <a:fld id="{3717A1C5-95F7-4229-A93B-29F7FF3DA000}" type="datetimeFigureOut">
              <a:rPr lang="en-IN" smtClean="0"/>
              <a:pPr/>
              <a:t>18-11-2023</a:t>
            </a:fld>
            <a:endParaRPr lang="en-IN"/>
          </a:p>
        </p:txBody>
      </p:sp>
      <p:sp>
        <p:nvSpPr>
          <p:cNvPr id="5" name="Footer Placeholder 4">
            <a:extLst>
              <a:ext uri="{FF2B5EF4-FFF2-40B4-BE49-F238E27FC236}">
                <a16:creationId xmlns:a16="http://schemas.microsoft.com/office/drawing/2014/main" id="{BF45CB06-5043-4F88-9848-829BAD7A0D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693EAC-3ADD-4236-B7D3-0540B8D65BEC}"/>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910687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435DF9-745D-444C-9DD7-A6DD954688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A09DCF-D326-45B4-9E4E-070E325317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80EC5D-D4D0-42B9-9170-212F1B335C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17A1C5-95F7-4229-A93B-29F7FF3DA000}" type="datetimeFigureOut">
              <a:rPr lang="en-IN" smtClean="0"/>
              <a:pPr/>
              <a:t>18-11-2023</a:t>
            </a:fld>
            <a:endParaRPr lang="en-IN"/>
          </a:p>
        </p:txBody>
      </p:sp>
      <p:sp>
        <p:nvSpPr>
          <p:cNvPr id="5" name="Footer Placeholder 4">
            <a:extLst>
              <a:ext uri="{FF2B5EF4-FFF2-40B4-BE49-F238E27FC236}">
                <a16:creationId xmlns:a16="http://schemas.microsoft.com/office/drawing/2014/main" id="{D77E3022-2659-46A1-A7BE-9894421E21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6EAFC63-250A-46C7-8FC2-85F3F3181D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7729C9-FBBD-4916-93BC-8B48DFD0D00A}" type="slidenum">
              <a:rPr lang="en-IN" smtClean="0"/>
              <a:pPr/>
              <a:t>‹#›</a:t>
            </a:fld>
            <a:endParaRPr lang="en-IN"/>
          </a:p>
        </p:txBody>
      </p:sp>
    </p:spTree>
    <p:extLst>
      <p:ext uri="{BB962C8B-B14F-4D97-AF65-F5344CB8AC3E}">
        <p14:creationId xmlns:p14="http://schemas.microsoft.com/office/powerpoint/2010/main" val="29214269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3.gif"/><Relationship Id="rId7" Type="http://schemas.openxmlformats.org/officeDocument/2006/relationships/hyperlink" Target="https://cnot.io/quantum_algorithms/grover/grovers_algorithm.html"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hyperlink" Target="https://quantumcomputing.stackexchange.com/questions/5318/grover-algorithm-for-more-than-one-element" TargetMode="External"/><Relationship Id="rId5" Type="http://schemas.openxmlformats.org/officeDocument/2006/relationships/image" Target="../media/image31.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aws.amazon.com/blogs/quantum-computing/simons-algorithm/"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DFE3490-CF8C-4FDE-9D71-2170861F2A61}"/>
              </a:ext>
            </a:extLst>
          </p:cNvPr>
          <p:cNvSpPr/>
          <p:nvPr/>
        </p:nvSpPr>
        <p:spPr>
          <a:xfrm>
            <a:off x="4685111" y="2813812"/>
            <a:ext cx="5580185" cy="1200329"/>
          </a:xfrm>
          <a:prstGeom prst="rect">
            <a:avLst/>
          </a:prstGeom>
        </p:spPr>
        <p:txBody>
          <a:bodyPr wrap="square">
            <a:spAutoFit/>
          </a:bodyPr>
          <a:lstStyle/>
          <a:p>
            <a:r>
              <a:rPr lang="en-US" sz="3600" b="1" dirty="0">
                <a:solidFill>
                  <a:schemeClr val="accent2">
                    <a:lumMod val="75000"/>
                  </a:schemeClr>
                </a:solidFill>
              </a:rPr>
              <a:t>Quantum Entanglement and Quantum Computing</a:t>
            </a:r>
          </a:p>
        </p:txBody>
      </p:sp>
      <p:sp>
        <p:nvSpPr>
          <p:cNvPr id="14" name="Rectangle 13">
            <a:extLst>
              <a:ext uri="{FF2B5EF4-FFF2-40B4-BE49-F238E27FC236}">
                <a16:creationId xmlns:a16="http://schemas.microsoft.com/office/drawing/2014/main" id="{585D8B7B-5B60-4808-A096-FB24198F96E9}"/>
              </a:ext>
            </a:extLst>
          </p:cNvPr>
          <p:cNvSpPr/>
          <p:nvPr/>
        </p:nvSpPr>
        <p:spPr>
          <a:xfrm>
            <a:off x="4781916" y="4415503"/>
            <a:ext cx="7000781" cy="461665"/>
          </a:xfrm>
          <a:prstGeom prst="rect">
            <a:avLst/>
          </a:prstGeom>
        </p:spPr>
        <p:txBody>
          <a:bodyPr wrap="square">
            <a:spAutoFit/>
          </a:bodyPr>
          <a:lstStyle/>
          <a:p>
            <a:r>
              <a:rPr lang="en-US" sz="2400" b="1" dirty="0"/>
              <a:t>Dr. Kaustav Bhowmick</a:t>
            </a:r>
            <a:endParaRPr lang="en-IN" sz="2400" b="1" dirty="0"/>
          </a:p>
        </p:txBody>
      </p:sp>
      <p:sp>
        <p:nvSpPr>
          <p:cNvPr id="15" name="Rectangle 14">
            <a:extLst>
              <a:ext uri="{FF2B5EF4-FFF2-40B4-BE49-F238E27FC236}">
                <a16:creationId xmlns:a16="http://schemas.microsoft.com/office/drawing/2014/main" id="{743662B4-0C28-4203-AEB1-4CC1644B8226}"/>
              </a:ext>
            </a:extLst>
          </p:cNvPr>
          <p:cNvSpPr/>
          <p:nvPr/>
        </p:nvSpPr>
        <p:spPr>
          <a:xfrm>
            <a:off x="4781916" y="4813108"/>
            <a:ext cx="4037691" cy="830997"/>
          </a:xfrm>
          <a:prstGeom prst="rect">
            <a:avLst/>
          </a:prstGeom>
        </p:spPr>
        <p:txBody>
          <a:bodyPr wrap="square">
            <a:spAutoFit/>
          </a:bodyPr>
          <a:lstStyle/>
          <a:p>
            <a:r>
              <a:rPr lang="en-US" sz="2400" dirty="0"/>
              <a:t>Electronics &amp; Communication </a:t>
            </a:r>
          </a:p>
          <a:p>
            <a:r>
              <a:rPr lang="en-US" sz="2400" dirty="0"/>
              <a:t>Engineering</a:t>
            </a:r>
            <a:endParaRPr lang="en-IN" sz="2400" dirty="0"/>
          </a:p>
        </p:txBody>
      </p:sp>
      <p:grpSp>
        <p:nvGrpSpPr>
          <p:cNvPr id="20" name="Group 19">
            <a:extLst>
              <a:ext uri="{FF2B5EF4-FFF2-40B4-BE49-F238E27FC236}">
                <a16:creationId xmlns:a16="http://schemas.microsoft.com/office/drawing/2014/main" id="{87008925-27BE-4F37-8F3C-D51A4CE1017D}"/>
              </a:ext>
            </a:extLst>
          </p:cNvPr>
          <p:cNvGrpSpPr/>
          <p:nvPr/>
        </p:nvGrpSpPr>
        <p:grpSpPr>
          <a:xfrm>
            <a:off x="313844" y="5489699"/>
            <a:ext cx="1066895" cy="1078155"/>
            <a:chOff x="313844" y="5489699"/>
            <a:chExt cx="1066895" cy="1078155"/>
          </a:xfrm>
          <a:solidFill>
            <a:schemeClr val="accent2">
              <a:lumMod val="75000"/>
            </a:schemeClr>
          </a:solidFill>
        </p:grpSpPr>
        <p:sp>
          <p:nvSpPr>
            <p:cNvPr id="24" name="Rectangle 23">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1" name="Straight Connector 10">
            <a:extLst>
              <a:ext uri="{FF2B5EF4-FFF2-40B4-BE49-F238E27FC236}">
                <a16:creationId xmlns:a16="http://schemas.microsoft.com/office/drawing/2014/main" id="{1EEB87D2-BD33-43D4-B135-6F0E91C4917A}"/>
              </a:ext>
            </a:extLst>
          </p:cNvPr>
          <p:cNvCxnSpPr>
            <a:cxnSpLocks/>
          </p:cNvCxnSpPr>
          <p:nvPr/>
        </p:nvCxnSpPr>
        <p:spPr>
          <a:xfrm flipV="1">
            <a:off x="4781916" y="4112436"/>
            <a:ext cx="4581449" cy="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Picture 11" descr="A close up of a logo&#10;&#10;Description automatically generated">
            <a:extLst>
              <a:ext uri="{FF2B5EF4-FFF2-40B4-BE49-F238E27FC236}">
                <a16:creationId xmlns:a16="http://schemas.microsoft.com/office/drawing/2014/main" id="{66C7B340-EC4A-4D32-8643-325F1D66DF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26704" y="1653906"/>
            <a:ext cx="2369218" cy="3550188"/>
          </a:xfrm>
          <a:prstGeom prst="rect">
            <a:avLst/>
          </a:prstGeom>
        </p:spPr>
      </p:pic>
      <p:grpSp>
        <p:nvGrpSpPr>
          <p:cNvPr id="16" name="Group 15">
            <a:extLst>
              <a:ext uri="{FF2B5EF4-FFF2-40B4-BE49-F238E27FC236}">
                <a16:creationId xmlns:a16="http://schemas.microsoft.com/office/drawing/2014/main" id="{87008925-27BE-4F37-8F3C-D51A4CE1017D}"/>
              </a:ext>
            </a:extLst>
          </p:cNvPr>
          <p:cNvGrpSpPr/>
          <p:nvPr/>
        </p:nvGrpSpPr>
        <p:grpSpPr>
          <a:xfrm rot="10800000">
            <a:off x="10855702" y="266068"/>
            <a:ext cx="1066895" cy="1078155"/>
            <a:chOff x="313844" y="5489699"/>
            <a:chExt cx="1066895" cy="1078155"/>
          </a:xfrm>
          <a:solidFill>
            <a:schemeClr val="accent2">
              <a:lumMod val="75000"/>
            </a:schemeClr>
          </a:solidFill>
        </p:grpSpPr>
        <p:sp>
          <p:nvSpPr>
            <p:cNvPr id="17" name="Rectangle 16">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300290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DFE3490-CF8C-4FDE-9D71-2170861F2A61}"/>
              </a:ext>
            </a:extLst>
          </p:cNvPr>
          <p:cNvSpPr/>
          <p:nvPr/>
        </p:nvSpPr>
        <p:spPr>
          <a:xfrm>
            <a:off x="313843" y="1311319"/>
            <a:ext cx="7782254" cy="1200329"/>
          </a:xfrm>
          <a:prstGeom prst="rect">
            <a:avLst/>
          </a:prstGeom>
        </p:spPr>
        <p:txBody>
          <a:bodyPr wrap="square">
            <a:spAutoFit/>
          </a:bodyPr>
          <a:lstStyle/>
          <a:p>
            <a:r>
              <a:rPr lang="en-US" sz="3600" b="1" cap="all" dirty="0"/>
              <a:t>Quantum Entanglement and Quantum Computing</a:t>
            </a:r>
          </a:p>
        </p:txBody>
      </p:sp>
      <p:sp>
        <p:nvSpPr>
          <p:cNvPr id="13" name="Rectangle 12">
            <a:extLst>
              <a:ext uri="{FF2B5EF4-FFF2-40B4-BE49-F238E27FC236}">
                <a16:creationId xmlns:a16="http://schemas.microsoft.com/office/drawing/2014/main" id="{34CEFAD4-E477-4E46-B5A6-ADB26E6A2863}"/>
              </a:ext>
            </a:extLst>
          </p:cNvPr>
          <p:cNvSpPr/>
          <p:nvPr/>
        </p:nvSpPr>
        <p:spPr>
          <a:xfrm>
            <a:off x="598883" y="2888778"/>
            <a:ext cx="7497214" cy="1200329"/>
          </a:xfrm>
          <a:prstGeom prst="rect">
            <a:avLst/>
          </a:prstGeom>
        </p:spPr>
        <p:txBody>
          <a:bodyPr wrap="square">
            <a:spAutoFit/>
          </a:bodyPr>
          <a:lstStyle/>
          <a:p>
            <a:r>
              <a:rPr lang="en-US" sz="3600" b="1" dirty="0">
                <a:solidFill>
                  <a:schemeClr val="accent1">
                    <a:lumMod val="75000"/>
                  </a:schemeClr>
                </a:solidFill>
              </a:rPr>
              <a:t>Entanglement and Quantum Information</a:t>
            </a:r>
            <a:endParaRPr lang="en-IN" sz="3600" b="1" dirty="0">
              <a:solidFill>
                <a:schemeClr val="accent1">
                  <a:lumMod val="75000"/>
                </a:schemeClr>
              </a:solidFill>
            </a:endParaRPr>
          </a:p>
        </p:txBody>
      </p:sp>
      <p:sp>
        <p:nvSpPr>
          <p:cNvPr id="14" name="Rectangle 13">
            <a:extLst>
              <a:ext uri="{FF2B5EF4-FFF2-40B4-BE49-F238E27FC236}">
                <a16:creationId xmlns:a16="http://schemas.microsoft.com/office/drawing/2014/main" id="{585D8B7B-5B60-4808-A096-FB24198F96E9}"/>
              </a:ext>
            </a:extLst>
          </p:cNvPr>
          <p:cNvSpPr/>
          <p:nvPr/>
        </p:nvSpPr>
        <p:spPr>
          <a:xfrm>
            <a:off x="598883" y="5316267"/>
            <a:ext cx="7497214" cy="461665"/>
          </a:xfrm>
          <a:prstGeom prst="rect">
            <a:avLst/>
          </a:prstGeom>
        </p:spPr>
        <p:txBody>
          <a:bodyPr wrap="square">
            <a:spAutoFit/>
          </a:bodyPr>
          <a:lstStyle/>
          <a:p>
            <a:r>
              <a:rPr lang="en-US" sz="2400" b="1" dirty="0"/>
              <a:t>Dr. Kaustav Bhowmick</a:t>
            </a:r>
            <a:endParaRPr lang="en-IN" sz="2400" b="1" dirty="0"/>
          </a:p>
        </p:txBody>
      </p:sp>
      <p:sp>
        <p:nvSpPr>
          <p:cNvPr id="15" name="Rectangle 14">
            <a:extLst>
              <a:ext uri="{FF2B5EF4-FFF2-40B4-BE49-F238E27FC236}">
                <a16:creationId xmlns:a16="http://schemas.microsoft.com/office/drawing/2014/main" id="{743662B4-0C28-4203-AEB1-4CC1644B8226}"/>
              </a:ext>
            </a:extLst>
          </p:cNvPr>
          <p:cNvSpPr/>
          <p:nvPr/>
        </p:nvSpPr>
        <p:spPr>
          <a:xfrm>
            <a:off x="598883" y="5669412"/>
            <a:ext cx="7497214" cy="400110"/>
          </a:xfrm>
          <a:prstGeom prst="rect">
            <a:avLst/>
          </a:prstGeom>
        </p:spPr>
        <p:txBody>
          <a:bodyPr wrap="square">
            <a:spAutoFit/>
          </a:bodyPr>
          <a:lstStyle/>
          <a:p>
            <a:r>
              <a:rPr lang="en-US" sz="2000" dirty="0"/>
              <a:t>Electronics &amp; Communication Engineering</a:t>
            </a:r>
            <a:endParaRPr lang="en-IN" sz="2000" dirty="0"/>
          </a:p>
        </p:txBody>
      </p:sp>
      <p:grpSp>
        <p:nvGrpSpPr>
          <p:cNvPr id="20" name="Group 19">
            <a:extLst>
              <a:ext uri="{FF2B5EF4-FFF2-40B4-BE49-F238E27FC236}">
                <a16:creationId xmlns:a16="http://schemas.microsoft.com/office/drawing/2014/main" id="{87008925-27BE-4F37-8F3C-D51A4CE1017D}"/>
              </a:ext>
            </a:extLst>
          </p:cNvPr>
          <p:cNvGrpSpPr/>
          <p:nvPr/>
        </p:nvGrpSpPr>
        <p:grpSpPr>
          <a:xfrm>
            <a:off x="313844" y="5489699"/>
            <a:ext cx="1066895" cy="1078155"/>
            <a:chOff x="313844" y="5489699"/>
            <a:chExt cx="1066895" cy="1078155"/>
          </a:xfrm>
          <a:solidFill>
            <a:schemeClr val="accent2">
              <a:lumMod val="60000"/>
              <a:lumOff val="40000"/>
            </a:schemeClr>
          </a:solidFill>
        </p:grpSpPr>
        <p:sp>
          <p:nvSpPr>
            <p:cNvPr id="24" name="Rectangle 23">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6" name="Straight Connector 15">
            <a:extLst>
              <a:ext uri="{FF2B5EF4-FFF2-40B4-BE49-F238E27FC236}">
                <a16:creationId xmlns:a16="http://schemas.microsoft.com/office/drawing/2014/main" id="{DD6B6443-C2DA-47C3-A986-5EE935046CC9}"/>
              </a:ext>
            </a:extLst>
          </p:cNvPr>
          <p:cNvCxnSpPr>
            <a:cxnSpLocks/>
          </p:cNvCxnSpPr>
          <p:nvPr/>
        </p:nvCxnSpPr>
        <p:spPr>
          <a:xfrm flipV="1">
            <a:off x="0" y="2596822"/>
            <a:ext cx="7904054" cy="68537"/>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pic>
        <p:nvPicPr>
          <p:cNvPr id="4" name="Picture 3" descr="A close up of a logo&#10;&#10;Description automatically generated">
            <a:extLst>
              <a:ext uri="{FF2B5EF4-FFF2-40B4-BE49-F238E27FC236}">
                <a16:creationId xmlns:a16="http://schemas.microsoft.com/office/drawing/2014/main" id="{6727F4C1-5802-414C-BEF9-8F8DC7D7B6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7" name="TextBox 16">
            <a:extLst>
              <a:ext uri="{FF2B5EF4-FFF2-40B4-BE49-F238E27FC236}">
                <a16:creationId xmlns:a16="http://schemas.microsoft.com/office/drawing/2014/main" id="{54905CC0-9088-4B13-B9F7-4D85FD808B63}"/>
              </a:ext>
            </a:extLst>
          </p:cNvPr>
          <p:cNvSpPr txBox="1"/>
          <p:nvPr/>
        </p:nvSpPr>
        <p:spPr>
          <a:xfrm>
            <a:off x="598883" y="6114890"/>
            <a:ext cx="2477513" cy="307777"/>
          </a:xfrm>
          <a:prstGeom prst="rect">
            <a:avLst/>
          </a:prstGeom>
          <a:noFill/>
        </p:spPr>
        <p:txBody>
          <a:bodyPr wrap="square" rtlCol="0">
            <a:spAutoFit/>
          </a:bodyPr>
          <a:lstStyle/>
          <a:p>
            <a:r>
              <a:rPr lang="en-IN" sz="1400" dirty="0">
                <a:solidFill>
                  <a:srgbClr val="7030A0"/>
                </a:solidFill>
              </a:rPr>
              <a:t>Source: Google images</a:t>
            </a:r>
          </a:p>
        </p:txBody>
      </p:sp>
      <p:pic>
        <p:nvPicPr>
          <p:cNvPr id="2" name="Picture 1">
            <a:extLst>
              <a:ext uri="{FF2B5EF4-FFF2-40B4-BE49-F238E27FC236}">
                <a16:creationId xmlns:a16="http://schemas.microsoft.com/office/drawing/2014/main" id="{39DD3DC4-A065-1C9A-B943-32D0A78486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spTree>
    <p:extLst>
      <p:ext uri="{BB962C8B-B14F-4D97-AF65-F5344CB8AC3E}">
        <p14:creationId xmlns:p14="http://schemas.microsoft.com/office/powerpoint/2010/main" val="1821512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598883" y="703011"/>
            <a:ext cx="7999758" cy="461665"/>
          </a:xfrm>
          <a:prstGeom prst="rect">
            <a:avLst/>
          </a:prstGeom>
        </p:spPr>
        <p:txBody>
          <a:bodyPr wrap="square">
            <a:spAutoFit/>
          </a:bodyPr>
          <a:lstStyle/>
          <a:p>
            <a:r>
              <a:rPr lang="en-US" sz="2400" b="1" dirty="0">
                <a:solidFill>
                  <a:schemeClr val="accent2">
                    <a:lumMod val="75000"/>
                  </a:schemeClr>
                </a:solidFill>
              </a:rPr>
              <a:t>Contents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sp>
        <p:nvSpPr>
          <p:cNvPr id="3" name="TextBox 2">
            <a:extLst>
              <a:ext uri="{FF2B5EF4-FFF2-40B4-BE49-F238E27FC236}">
                <a16:creationId xmlns:a16="http://schemas.microsoft.com/office/drawing/2014/main" id="{5D148C88-3676-DBDB-0D6B-5C1AEB0D5EF6}"/>
              </a:ext>
            </a:extLst>
          </p:cNvPr>
          <p:cNvSpPr txBox="1"/>
          <p:nvPr/>
        </p:nvSpPr>
        <p:spPr>
          <a:xfrm>
            <a:off x="737117" y="1613171"/>
            <a:ext cx="7389845" cy="1169551"/>
          </a:xfrm>
          <a:prstGeom prst="rect">
            <a:avLst/>
          </a:prstGeom>
          <a:noFill/>
        </p:spPr>
        <p:txBody>
          <a:bodyPr wrap="square">
            <a:spAutoFit/>
          </a:bodyPr>
          <a:lstStyle/>
          <a:p>
            <a:pPr>
              <a:spcBef>
                <a:spcPct val="50000"/>
              </a:spcBef>
              <a:buClr>
                <a:schemeClr val="accent2"/>
              </a:buClr>
              <a:buFont typeface="Wingdings" panose="05000000000000000000" pitchFamily="2" charset="2"/>
              <a:buChar char="§"/>
            </a:pPr>
            <a:r>
              <a:rPr lang="en-US" altLang="en-US" sz="2800" dirty="0"/>
              <a:t>Grover’s algorithm</a:t>
            </a:r>
          </a:p>
          <a:p>
            <a:pPr>
              <a:spcBef>
                <a:spcPct val="50000"/>
              </a:spcBef>
              <a:buClr>
                <a:schemeClr val="accent2"/>
              </a:buClr>
              <a:buFont typeface="Wingdings" panose="05000000000000000000" pitchFamily="2" charset="2"/>
              <a:buChar char="§"/>
            </a:pPr>
            <a:r>
              <a:rPr lang="en-US" altLang="en-US" sz="2800" dirty="0"/>
              <a:t> Simon’s algorithm</a:t>
            </a:r>
          </a:p>
        </p:txBody>
      </p:sp>
      <p:pic>
        <p:nvPicPr>
          <p:cNvPr id="4" name="Picture 3">
            <a:extLst>
              <a:ext uri="{FF2B5EF4-FFF2-40B4-BE49-F238E27FC236}">
                <a16:creationId xmlns:a16="http://schemas.microsoft.com/office/drawing/2014/main" id="{D49819CE-6567-355A-D289-A5B9B3611E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spTree>
    <p:extLst>
      <p:ext uri="{BB962C8B-B14F-4D97-AF65-F5344CB8AC3E}">
        <p14:creationId xmlns:p14="http://schemas.microsoft.com/office/powerpoint/2010/main" val="3633279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sp>
        <p:nvSpPr>
          <p:cNvPr id="4" name="TextBox 3">
            <a:extLst>
              <a:ext uri="{FF2B5EF4-FFF2-40B4-BE49-F238E27FC236}">
                <a16:creationId xmlns:a16="http://schemas.microsoft.com/office/drawing/2014/main" id="{E4A7D215-7EDD-351B-BEA4-847FA9E20DCC}"/>
              </a:ext>
            </a:extLst>
          </p:cNvPr>
          <p:cNvSpPr txBox="1"/>
          <p:nvPr/>
        </p:nvSpPr>
        <p:spPr>
          <a:xfrm>
            <a:off x="485192" y="1647655"/>
            <a:ext cx="7383902" cy="4801314"/>
          </a:xfrm>
          <a:prstGeom prst="rect">
            <a:avLst/>
          </a:prstGeom>
          <a:noFill/>
        </p:spPr>
        <p:txBody>
          <a:bodyPr wrap="square">
            <a:spAutoFit/>
          </a:bodyPr>
          <a:lstStyle/>
          <a:p>
            <a:r>
              <a:rPr lang="en-IN" b="1" dirty="0"/>
              <a:t>Quantum algorithms can be classified based on the techniques used. They are classified as follows:</a:t>
            </a:r>
          </a:p>
          <a:p>
            <a:endParaRPr lang="en-IN" dirty="0"/>
          </a:p>
          <a:p>
            <a:pPr>
              <a:buFont typeface="Arial" panose="020B0604020202020204" pitchFamily="34" charset="0"/>
              <a:buChar char="•"/>
            </a:pPr>
            <a:r>
              <a:rPr lang="en-IN" dirty="0"/>
              <a:t>Algorithms based on Phase Estimation — These include algorithms like Shor’s algorithm, HHL algorithm etc.</a:t>
            </a:r>
          </a:p>
          <a:p>
            <a:pPr>
              <a:buFont typeface="Arial" panose="020B0604020202020204" pitchFamily="34" charset="0"/>
              <a:buChar char="•"/>
            </a:pPr>
            <a:endParaRPr lang="en-IN" dirty="0"/>
          </a:p>
          <a:p>
            <a:pPr>
              <a:buFont typeface="Arial" panose="020B0604020202020204" pitchFamily="34" charset="0"/>
              <a:buChar char="•"/>
            </a:pPr>
            <a:r>
              <a:rPr lang="en-IN" dirty="0"/>
              <a:t>Algorithms based on amplitude amplification — These include Grover’s algorithm, Oblivious Amplitude Amplification etc.</a:t>
            </a:r>
          </a:p>
          <a:p>
            <a:pPr>
              <a:buFont typeface="Arial" panose="020B0604020202020204" pitchFamily="34" charset="0"/>
              <a:buChar char="•"/>
            </a:pPr>
            <a:endParaRPr lang="en-IN" dirty="0"/>
          </a:p>
          <a:p>
            <a:pPr>
              <a:buFont typeface="Arial" panose="020B0604020202020204" pitchFamily="34" charset="0"/>
              <a:buChar char="•"/>
            </a:pPr>
            <a:r>
              <a:rPr lang="en-IN" dirty="0"/>
              <a:t>Algorithms based on quantum walks — This family of algorithms include algorithms for searching, Hamiltonian Simulation etc.</a:t>
            </a:r>
          </a:p>
          <a:p>
            <a:pPr>
              <a:buFont typeface="Arial" panose="020B0604020202020204" pitchFamily="34" charset="0"/>
              <a:buChar char="•"/>
            </a:pPr>
            <a:endParaRPr lang="en-IN" dirty="0"/>
          </a:p>
          <a:p>
            <a:pPr>
              <a:buFont typeface="Arial" panose="020B0604020202020204" pitchFamily="34" charset="0"/>
              <a:buChar char="•"/>
            </a:pPr>
            <a:r>
              <a:rPr lang="en-IN" dirty="0"/>
              <a:t>Adiabatic Algorithm — This family consists of many algorithms for searching, solving linear systems etc.</a:t>
            </a:r>
          </a:p>
          <a:p>
            <a:pPr>
              <a:buFont typeface="Arial" panose="020B0604020202020204" pitchFamily="34" charset="0"/>
              <a:buChar char="•"/>
            </a:pPr>
            <a:endParaRPr lang="en-IN" dirty="0"/>
          </a:p>
          <a:p>
            <a:pPr>
              <a:buFont typeface="Arial" panose="020B0604020202020204" pitchFamily="34" charset="0"/>
              <a:buChar char="•"/>
            </a:pPr>
            <a:r>
              <a:rPr lang="en-IN" dirty="0"/>
              <a:t>Hybrid quantum-classical algorithms — This family includes variational algorithms like VQE, QAOA, VQLS etc.</a:t>
            </a:r>
          </a:p>
        </p:txBody>
      </p:sp>
    </p:spTree>
    <p:extLst>
      <p:ext uri="{BB962C8B-B14F-4D97-AF65-F5344CB8AC3E}">
        <p14:creationId xmlns:p14="http://schemas.microsoft.com/office/powerpoint/2010/main" val="1443245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sp>
        <p:nvSpPr>
          <p:cNvPr id="4" name="TextBox 3">
            <a:extLst>
              <a:ext uri="{FF2B5EF4-FFF2-40B4-BE49-F238E27FC236}">
                <a16:creationId xmlns:a16="http://schemas.microsoft.com/office/drawing/2014/main" id="{44A69131-673E-A3DB-B536-99F057B9C08F}"/>
              </a:ext>
            </a:extLst>
          </p:cNvPr>
          <p:cNvSpPr txBox="1"/>
          <p:nvPr/>
        </p:nvSpPr>
        <p:spPr>
          <a:xfrm>
            <a:off x="438538" y="1650260"/>
            <a:ext cx="7933099" cy="369332"/>
          </a:xfrm>
          <a:prstGeom prst="rect">
            <a:avLst/>
          </a:prstGeom>
          <a:noFill/>
        </p:spPr>
        <p:txBody>
          <a:bodyPr wrap="square">
            <a:spAutoFit/>
          </a:bodyPr>
          <a:lstStyle/>
          <a:p>
            <a:r>
              <a:rPr lang="en-US" b="1" dirty="0"/>
              <a:t>Grover’s algorithm, is a member of amplitude amplification based algorithms.</a:t>
            </a:r>
            <a:endParaRPr lang="en-IN" b="1" dirty="0"/>
          </a:p>
        </p:txBody>
      </p:sp>
      <p:sp>
        <p:nvSpPr>
          <p:cNvPr id="7" name="TextBox 6">
            <a:extLst>
              <a:ext uri="{FF2B5EF4-FFF2-40B4-BE49-F238E27FC236}">
                <a16:creationId xmlns:a16="http://schemas.microsoft.com/office/drawing/2014/main" id="{24548BEE-1B3A-E8C6-D537-5AC68022D82A}"/>
              </a:ext>
            </a:extLst>
          </p:cNvPr>
          <p:cNvSpPr txBox="1"/>
          <p:nvPr/>
        </p:nvSpPr>
        <p:spPr>
          <a:xfrm>
            <a:off x="765110" y="2217918"/>
            <a:ext cx="7526634" cy="2862322"/>
          </a:xfrm>
          <a:prstGeom prst="rect">
            <a:avLst/>
          </a:prstGeom>
          <a:noFill/>
        </p:spPr>
        <p:txBody>
          <a:bodyPr wrap="square">
            <a:spAutoFit/>
          </a:bodyPr>
          <a:lstStyle/>
          <a:p>
            <a:r>
              <a:rPr lang="en-US" b="1" dirty="0"/>
              <a:t>The Grover’s search problem</a:t>
            </a:r>
          </a:p>
          <a:p>
            <a:r>
              <a:rPr lang="en-US" dirty="0"/>
              <a:t>The problem that Grover’s algorithm deals with is as follows:</a:t>
            </a:r>
          </a:p>
          <a:p>
            <a:r>
              <a:rPr lang="en-US" dirty="0"/>
              <a:t>Suppose you have an unstructured list of N items which means the list is not sorted and lacks any kind of pattern or structure. We want to search for an element in this list, what is the best known classical solution we have?</a:t>
            </a:r>
          </a:p>
          <a:p>
            <a:endParaRPr lang="en-US" dirty="0"/>
          </a:p>
          <a:p>
            <a:r>
              <a:rPr lang="en-US" dirty="0"/>
              <a:t>Since the list is unstructured, the best we can do is a linear search and in the worst case it will take O(N) time. But with Grover’s algorithm, it turns out that we can do this in O(√N). Thus Grover's algorithm gives a quadratic speedup which becomes significant when we use a list with many elements.</a:t>
            </a:r>
          </a:p>
        </p:txBody>
      </p:sp>
    </p:spTree>
    <p:extLst>
      <p:ext uri="{BB962C8B-B14F-4D97-AF65-F5344CB8AC3E}">
        <p14:creationId xmlns:p14="http://schemas.microsoft.com/office/powerpoint/2010/main" val="3015573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4" name="Picture 3">
            <a:extLst>
              <a:ext uri="{FF2B5EF4-FFF2-40B4-BE49-F238E27FC236}">
                <a16:creationId xmlns:a16="http://schemas.microsoft.com/office/drawing/2014/main" id="{976685EE-F4E6-87B5-7D74-A9112A28C11C}"/>
              </a:ext>
            </a:extLst>
          </p:cNvPr>
          <p:cNvPicPr>
            <a:picLocks noChangeAspect="1"/>
          </p:cNvPicPr>
          <p:nvPr/>
        </p:nvPicPr>
        <p:blipFill>
          <a:blip r:embed="rId4"/>
          <a:stretch>
            <a:fillRect/>
          </a:stretch>
        </p:blipFill>
        <p:spPr>
          <a:xfrm>
            <a:off x="598883" y="1591919"/>
            <a:ext cx="8326012" cy="3077004"/>
          </a:xfrm>
          <a:prstGeom prst="rect">
            <a:avLst/>
          </a:prstGeom>
        </p:spPr>
      </p:pic>
      <p:pic>
        <p:nvPicPr>
          <p:cNvPr id="7" name="Picture 6">
            <a:extLst>
              <a:ext uri="{FF2B5EF4-FFF2-40B4-BE49-F238E27FC236}">
                <a16:creationId xmlns:a16="http://schemas.microsoft.com/office/drawing/2014/main" id="{E1DB16F0-2A70-1BAC-2A4A-774713973C23}"/>
              </a:ext>
            </a:extLst>
          </p:cNvPr>
          <p:cNvPicPr>
            <a:picLocks noChangeAspect="1"/>
          </p:cNvPicPr>
          <p:nvPr/>
        </p:nvPicPr>
        <p:blipFill>
          <a:blip r:embed="rId5"/>
          <a:stretch>
            <a:fillRect/>
          </a:stretch>
        </p:blipFill>
        <p:spPr>
          <a:xfrm>
            <a:off x="1247123" y="4944383"/>
            <a:ext cx="6249272" cy="1657581"/>
          </a:xfrm>
          <a:prstGeom prst="rect">
            <a:avLst/>
          </a:prstGeom>
        </p:spPr>
      </p:pic>
    </p:spTree>
    <p:extLst>
      <p:ext uri="{BB962C8B-B14F-4D97-AF65-F5344CB8AC3E}">
        <p14:creationId xmlns:p14="http://schemas.microsoft.com/office/powerpoint/2010/main" val="3439476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4" name="Picture 3">
            <a:extLst>
              <a:ext uri="{FF2B5EF4-FFF2-40B4-BE49-F238E27FC236}">
                <a16:creationId xmlns:a16="http://schemas.microsoft.com/office/drawing/2014/main" id="{E5C4F5A0-C505-9559-87CB-C2DED69C7DB2}"/>
              </a:ext>
            </a:extLst>
          </p:cNvPr>
          <p:cNvPicPr>
            <a:picLocks noChangeAspect="1"/>
          </p:cNvPicPr>
          <p:nvPr/>
        </p:nvPicPr>
        <p:blipFill>
          <a:blip r:embed="rId4"/>
          <a:stretch>
            <a:fillRect/>
          </a:stretch>
        </p:blipFill>
        <p:spPr>
          <a:xfrm>
            <a:off x="503382" y="1514689"/>
            <a:ext cx="5344271" cy="295316"/>
          </a:xfrm>
          <a:prstGeom prst="rect">
            <a:avLst/>
          </a:prstGeom>
        </p:spPr>
      </p:pic>
      <p:pic>
        <p:nvPicPr>
          <p:cNvPr id="7" name="Picture 6">
            <a:extLst>
              <a:ext uri="{FF2B5EF4-FFF2-40B4-BE49-F238E27FC236}">
                <a16:creationId xmlns:a16="http://schemas.microsoft.com/office/drawing/2014/main" id="{82166B50-71D1-9D56-7EFD-FAADEF1BE740}"/>
              </a:ext>
            </a:extLst>
          </p:cNvPr>
          <p:cNvPicPr>
            <a:picLocks noChangeAspect="1"/>
          </p:cNvPicPr>
          <p:nvPr/>
        </p:nvPicPr>
        <p:blipFill>
          <a:blip r:embed="rId5">
            <a:duotone>
              <a:prstClr val="black"/>
              <a:schemeClr val="accent2">
                <a:tint val="45000"/>
                <a:satMod val="400000"/>
              </a:schemeClr>
            </a:duotone>
          </a:blip>
          <a:stretch>
            <a:fillRect/>
          </a:stretch>
        </p:blipFill>
        <p:spPr>
          <a:xfrm>
            <a:off x="503382" y="1883342"/>
            <a:ext cx="7091985" cy="4589421"/>
          </a:xfrm>
          <a:prstGeom prst="rect">
            <a:avLst/>
          </a:prstGeom>
        </p:spPr>
      </p:pic>
    </p:spTree>
    <p:extLst>
      <p:ext uri="{BB962C8B-B14F-4D97-AF65-F5344CB8AC3E}">
        <p14:creationId xmlns:p14="http://schemas.microsoft.com/office/powerpoint/2010/main" val="3590924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7" name="Picture 6">
            <a:extLst>
              <a:ext uri="{FF2B5EF4-FFF2-40B4-BE49-F238E27FC236}">
                <a16:creationId xmlns:a16="http://schemas.microsoft.com/office/drawing/2014/main" id="{3A2E247A-2755-C275-59C7-5DB53F49B3AF}"/>
              </a:ext>
            </a:extLst>
          </p:cNvPr>
          <p:cNvPicPr>
            <a:picLocks noChangeAspect="1"/>
          </p:cNvPicPr>
          <p:nvPr/>
        </p:nvPicPr>
        <p:blipFill>
          <a:blip r:embed="rId4">
            <a:duotone>
              <a:prstClr val="black"/>
              <a:schemeClr val="accent6">
                <a:tint val="45000"/>
                <a:satMod val="400000"/>
              </a:schemeClr>
            </a:duotone>
          </a:blip>
          <a:stretch>
            <a:fillRect/>
          </a:stretch>
        </p:blipFill>
        <p:spPr>
          <a:xfrm>
            <a:off x="867747" y="1612314"/>
            <a:ext cx="6773728" cy="5156121"/>
          </a:xfrm>
          <a:prstGeom prst="rect">
            <a:avLst/>
          </a:prstGeom>
        </p:spPr>
      </p:pic>
    </p:spTree>
    <p:extLst>
      <p:ext uri="{BB962C8B-B14F-4D97-AF65-F5344CB8AC3E}">
        <p14:creationId xmlns:p14="http://schemas.microsoft.com/office/powerpoint/2010/main" val="3257851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4" name="Picture 3">
            <a:extLst>
              <a:ext uri="{FF2B5EF4-FFF2-40B4-BE49-F238E27FC236}">
                <a16:creationId xmlns:a16="http://schemas.microsoft.com/office/drawing/2014/main" id="{47F3DE9C-E092-0780-2FDE-ABE3F2846521}"/>
              </a:ext>
            </a:extLst>
          </p:cNvPr>
          <p:cNvPicPr>
            <a:picLocks noChangeAspect="1"/>
          </p:cNvPicPr>
          <p:nvPr/>
        </p:nvPicPr>
        <p:blipFill>
          <a:blip r:embed="rId4"/>
          <a:stretch>
            <a:fillRect/>
          </a:stretch>
        </p:blipFill>
        <p:spPr>
          <a:xfrm>
            <a:off x="598883" y="1519354"/>
            <a:ext cx="4877481" cy="390580"/>
          </a:xfrm>
          <a:prstGeom prst="rect">
            <a:avLst/>
          </a:prstGeom>
        </p:spPr>
      </p:pic>
      <p:pic>
        <p:nvPicPr>
          <p:cNvPr id="7" name="Picture 6">
            <a:extLst>
              <a:ext uri="{FF2B5EF4-FFF2-40B4-BE49-F238E27FC236}">
                <a16:creationId xmlns:a16="http://schemas.microsoft.com/office/drawing/2014/main" id="{1DF678EB-65DE-43F5-0FCD-7BE6BE6C3232}"/>
              </a:ext>
            </a:extLst>
          </p:cNvPr>
          <p:cNvPicPr>
            <a:picLocks noChangeAspect="1"/>
          </p:cNvPicPr>
          <p:nvPr/>
        </p:nvPicPr>
        <p:blipFill>
          <a:blip r:embed="rId5"/>
          <a:stretch>
            <a:fillRect/>
          </a:stretch>
        </p:blipFill>
        <p:spPr>
          <a:xfrm>
            <a:off x="829563" y="2081687"/>
            <a:ext cx="5382376" cy="4058216"/>
          </a:xfrm>
          <a:prstGeom prst="rect">
            <a:avLst/>
          </a:prstGeom>
        </p:spPr>
      </p:pic>
    </p:spTree>
    <p:extLst>
      <p:ext uri="{BB962C8B-B14F-4D97-AF65-F5344CB8AC3E}">
        <p14:creationId xmlns:p14="http://schemas.microsoft.com/office/powerpoint/2010/main" val="2217610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4" name="Picture 3">
            <a:extLst>
              <a:ext uri="{FF2B5EF4-FFF2-40B4-BE49-F238E27FC236}">
                <a16:creationId xmlns:a16="http://schemas.microsoft.com/office/drawing/2014/main" id="{47F3DE9C-E092-0780-2FDE-ABE3F2846521}"/>
              </a:ext>
            </a:extLst>
          </p:cNvPr>
          <p:cNvPicPr>
            <a:picLocks noChangeAspect="1"/>
          </p:cNvPicPr>
          <p:nvPr/>
        </p:nvPicPr>
        <p:blipFill>
          <a:blip r:embed="rId4"/>
          <a:stretch>
            <a:fillRect/>
          </a:stretch>
        </p:blipFill>
        <p:spPr>
          <a:xfrm>
            <a:off x="598883" y="1519354"/>
            <a:ext cx="4877481" cy="390580"/>
          </a:xfrm>
          <a:prstGeom prst="rect">
            <a:avLst/>
          </a:prstGeom>
        </p:spPr>
      </p:pic>
      <p:pic>
        <p:nvPicPr>
          <p:cNvPr id="5" name="Picture 4">
            <a:extLst>
              <a:ext uri="{FF2B5EF4-FFF2-40B4-BE49-F238E27FC236}">
                <a16:creationId xmlns:a16="http://schemas.microsoft.com/office/drawing/2014/main" id="{90837E6F-3E64-EF17-C192-3F782AAE5D8D}"/>
              </a:ext>
            </a:extLst>
          </p:cNvPr>
          <p:cNvPicPr>
            <a:picLocks noChangeAspect="1"/>
          </p:cNvPicPr>
          <p:nvPr/>
        </p:nvPicPr>
        <p:blipFill>
          <a:blip r:embed="rId5"/>
          <a:stretch>
            <a:fillRect/>
          </a:stretch>
        </p:blipFill>
        <p:spPr>
          <a:xfrm>
            <a:off x="762095" y="2112829"/>
            <a:ext cx="5591955" cy="4134427"/>
          </a:xfrm>
          <a:prstGeom prst="rect">
            <a:avLst/>
          </a:prstGeom>
        </p:spPr>
      </p:pic>
    </p:spTree>
    <p:extLst>
      <p:ext uri="{BB962C8B-B14F-4D97-AF65-F5344CB8AC3E}">
        <p14:creationId xmlns:p14="http://schemas.microsoft.com/office/powerpoint/2010/main" val="2656344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4" name="Picture 3">
            <a:extLst>
              <a:ext uri="{FF2B5EF4-FFF2-40B4-BE49-F238E27FC236}">
                <a16:creationId xmlns:a16="http://schemas.microsoft.com/office/drawing/2014/main" id="{47F3DE9C-E092-0780-2FDE-ABE3F2846521}"/>
              </a:ext>
            </a:extLst>
          </p:cNvPr>
          <p:cNvPicPr>
            <a:picLocks noChangeAspect="1"/>
          </p:cNvPicPr>
          <p:nvPr/>
        </p:nvPicPr>
        <p:blipFill>
          <a:blip r:embed="rId4"/>
          <a:stretch>
            <a:fillRect/>
          </a:stretch>
        </p:blipFill>
        <p:spPr>
          <a:xfrm>
            <a:off x="598883" y="1359868"/>
            <a:ext cx="4877481" cy="390580"/>
          </a:xfrm>
          <a:prstGeom prst="rect">
            <a:avLst/>
          </a:prstGeom>
        </p:spPr>
      </p:pic>
      <p:pic>
        <p:nvPicPr>
          <p:cNvPr id="5" name="Picture 4">
            <a:extLst>
              <a:ext uri="{FF2B5EF4-FFF2-40B4-BE49-F238E27FC236}">
                <a16:creationId xmlns:a16="http://schemas.microsoft.com/office/drawing/2014/main" id="{889C12B1-1E1F-89E2-7F7E-BCB1797D40C1}"/>
              </a:ext>
            </a:extLst>
          </p:cNvPr>
          <p:cNvPicPr>
            <a:picLocks noChangeAspect="1"/>
          </p:cNvPicPr>
          <p:nvPr/>
        </p:nvPicPr>
        <p:blipFill>
          <a:blip r:embed="rId5"/>
          <a:stretch>
            <a:fillRect/>
          </a:stretch>
        </p:blipFill>
        <p:spPr>
          <a:xfrm>
            <a:off x="840150" y="1793857"/>
            <a:ext cx="5756988" cy="4771678"/>
          </a:xfrm>
          <a:prstGeom prst="rect">
            <a:avLst/>
          </a:prstGeom>
        </p:spPr>
      </p:pic>
    </p:spTree>
    <p:extLst>
      <p:ext uri="{BB962C8B-B14F-4D97-AF65-F5344CB8AC3E}">
        <p14:creationId xmlns:p14="http://schemas.microsoft.com/office/powerpoint/2010/main" val="3149596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4" name="Picture 3">
            <a:extLst>
              <a:ext uri="{FF2B5EF4-FFF2-40B4-BE49-F238E27FC236}">
                <a16:creationId xmlns:a16="http://schemas.microsoft.com/office/drawing/2014/main" id="{2365C2C0-B615-C56C-B516-A0FE3AA052FE}"/>
              </a:ext>
            </a:extLst>
          </p:cNvPr>
          <p:cNvPicPr>
            <a:picLocks noChangeAspect="1"/>
          </p:cNvPicPr>
          <p:nvPr/>
        </p:nvPicPr>
        <p:blipFill>
          <a:blip r:embed="rId4"/>
          <a:stretch>
            <a:fillRect/>
          </a:stretch>
        </p:blipFill>
        <p:spPr>
          <a:xfrm>
            <a:off x="371880" y="1497326"/>
            <a:ext cx="3505689" cy="371527"/>
          </a:xfrm>
          <a:prstGeom prst="rect">
            <a:avLst/>
          </a:prstGeom>
        </p:spPr>
      </p:pic>
      <p:pic>
        <p:nvPicPr>
          <p:cNvPr id="7" name="Picture 6">
            <a:extLst>
              <a:ext uri="{FF2B5EF4-FFF2-40B4-BE49-F238E27FC236}">
                <a16:creationId xmlns:a16="http://schemas.microsoft.com/office/drawing/2014/main" id="{74934F6C-FBC1-E35A-F0D5-3F0EF890F65C}"/>
              </a:ext>
            </a:extLst>
          </p:cNvPr>
          <p:cNvPicPr>
            <a:picLocks noChangeAspect="1"/>
          </p:cNvPicPr>
          <p:nvPr/>
        </p:nvPicPr>
        <p:blipFill>
          <a:blip r:embed="rId5"/>
          <a:stretch>
            <a:fillRect/>
          </a:stretch>
        </p:blipFill>
        <p:spPr>
          <a:xfrm>
            <a:off x="371879" y="2049719"/>
            <a:ext cx="7017965" cy="4459221"/>
          </a:xfrm>
          <a:prstGeom prst="rect">
            <a:avLst/>
          </a:prstGeom>
        </p:spPr>
      </p:pic>
    </p:spTree>
    <p:extLst>
      <p:ext uri="{BB962C8B-B14F-4D97-AF65-F5344CB8AC3E}">
        <p14:creationId xmlns:p14="http://schemas.microsoft.com/office/powerpoint/2010/main" val="1916405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4" name="Picture 3">
            <a:extLst>
              <a:ext uri="{FF2B5EF4-FFF2-40B4-BE49-F238E27FC236}">
                <a16:creationId xmlns:a16="http://schemas.microsoft.com/office/drawing/2014/main" id="{2365C2C0-B615-C56C-B516-A0FE3AA052FE}"/>
              </a:ext>
            </a:extLst>
          </p:cNvPr>
          <p:cNvPicPr>
            <a:picLocks noChangeAspect="1"/>
          </p:cNvPicPr>
          <p:nvPr/>
        </p:nvPicPr>
        <p:blipFill>
          <a:blip r:embed="rId4"/>
          <a:stretch>
            <a:fillRect/>
          </a:stretch>
        </p:blipFill>
        <p:spPr>
          <a:xfrm>
            <a:off x="371880" y="1497326"/>
            <a:ext cx="3505689" cy="371527"/>
          </a:xfrm>
          <a:prstGeom prst="rect">
            <a:avLst/>
          </a:prstGeom>
        </p:spPr>
      </p:pic>
      <p:pic>
        <p:nvPicPr>
          <p:cNvPr id="5" name="Picture 4">
            <a:extLst>
              <a:ext uri="{FF2B5EF4-FFF2-40B4-BE49-F238E27FC236}">
                <a16:creationId xmlns:a16="http://schemas.microsoft.com/office/drawing/2014/main" id="{3DAF3560-1EEB-0A3F-BC6C-AE6465F69F3C}"/>
              </a:ext>
            </a:extLst>
          </p:cNvPr>
          <p:cNvPicPr>
            <a:picLocks noChangeAspect="1"/>
          </p:cNvPicPr>
          <p:nvPr/>
        </p:nvPicPr>
        <p:blipFill>
          <a:blip r:embed="rId5"/>
          <a:stretch>
            <a:fillRect/>
          </a:stretch>
        </p:blipFill>
        <p:spPr>
          <a:xfrm>
            <a:off x="748173" y="2217918"/>
            <a:ext cx="4924839" cy="2129364"/>
          </a:xfrm>
          <a:prstGeom prst="rect">
            <a:avLst/>
          </a:prstGeom>
        </p:spPr>
      </p:pic>
    </p:spTree>
    <p:extLst>
      <p:ext uri="{BB962C8B-B14F-4D97-AF65-F5344CB8AC3E}">
        <p14:creationId xmlns:p14="http://schemas.microsoft.com/office/powerpoint/2010/main" val="1349714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4" name="Picture 3">
            <a:extLst>
              <a:ext uri="{FF2B5EF4-FFF2-40B4-BE49-F238E27FC236}">
                <a16:creationId xmlns:a16="http://schemas.microsoft.com/office/drawing/2014/main" id="{2365C2C0-B615-C56C-B516-A0FE3AA052FE}"/>
              </a:ext>
            </a:extLst>
          </p:cNvPr>
          <p:cNvPicPr>
            <a:picLocks noChangeAspect="1"/>
          </p:cNvPicPr>
          <p:nvPr/>
        </p:nvPicPr>
        <p:blipFill>
          <a:blip r:embed="rId4"/>
          <a:stretch>
            <a:fillRect/>
          </a:stretch>
        </p:blipFill>
        <p:spPr>
          <a:xfrm>
            <a:off x="371880" y="1497326"/>
            <a:ext cx="3505689" cy="371527"/>
          </a:xfrm>
          <a:prstGeom prst="rect">
            <a:avLst/>
          </a:prstGeom>
        </p:spPr>
      </p:pic>
      <p:pic>
        <p:nvPicPr>
          <p:cNvPr id="5" name="Picture 4">
            <a:extLst>
              <a:ext uri="{FF2B5EF4-FFF2-40B4-BE49-F238E27FC236}">
                <a16:creationId xmlns:a16="http://schemas.microsoft.com/office/drawing/2014/main" id="{33C43CCD-5A2D-0198-1C29-2F6BBCF64519}"/>
              </a:ext>
            </a:extLst>
          </p:cNvPr>
          <p:cNvPicPr>
            <a:picLocks noChangeAspect="1"/>
          </p:cNvPicPr>
          <p:nvPr/>
        </p:nvPicPr>
        <p:blipFill>
          <a:blip r:embed="rId5">
            <a:duotone>
              <a:schemeClr val="accent6">
                <a:shade val="45000"/>
                <a:satMod val="135000"/>
              </a:schemeClr>
              <a:prstClr val="white"/>
            </a:duotone>
          </a:blip>
          <a:stretch>
            <a:fillRect/>
          </a:stretch>
        </p:blipFill>
        <p:spPr>
          <a:xfrm>
            <a:off x="598883" y="2146018"/>
            <a:ext cx="8125239" cy="3105583"/>
          </a:xfrm>
          <a:prstGeom prst="rect">
            <a:avLst/>
          </a:prstGeom>
        </p:spPr>
      </p:pic>
    </p:spTree>
    <p:extLst>
      <p:ext uri="{BB962C8B-B14F-4D97-AF65-F5344CB8AC3E}">
        <p14:creationId xmlns:p14="http://schemas.microsoft.com/office/powerpoint/2010/main" val="131907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5" name="Picture 4">
            <a:extLst>
              <a:ext uri="{FF2B5EF4-FFF2-40B4-BE49-F238E27FC236}">
                <a16:creationId xmlns:a16="http://schemas.microsoft.com/office/drawing/2014/main" id="{A286730C-E455-6D31-D2C5-6B263426FEFC}"/>
              </a:ext>
            </a:extLst>
          </p:cNvPr>
          <p:cNvPicPr>
            <a:picLocks noChangeAspect="1"/>
          </p:cNvPicPr>
          <p:nvPr/>
        </p:nvPicPr>
        <p:blipFill>
          <a:blip r:embed="rId4">
            <a:duotone>
              <a:schemeClr val="accent3">
                <a:shade val="45000"/>
                <a:satMod val="135000"/>
              </a:schemeClr>
              <a:prstClr val="white"/>
            </a:duotone>
          </a:blip>
          <a:stretch>
            <a:fillRect/>
          </a:stretch>
        </p:blipFill>
        <p:spPr>
          <a:xfrm>
            <a:off x="291654" y="1519354"/>
            <a:ext cx="8697539" cy="1028844"/>
          </a:xfrm>
          <a:prstGeom prst="rect">
            <a:avLst/>
          </a:prstGeom>
        </p:spPr>
      </p:pic>
      <p:pic>
        <p:nvPicPr>
          <p:cNvPr id="9" name="Picture 8">
            <a:extLst>
              <a:ext uri="{FF2B5EF4-FFF2-40B4-BE49-F238E27FC236}">
                <a16:creationId xmlns:a16="http://schemas.microsoft.com/office/drawing/2014/main" id="{E666888D-760B-56CC-4A0E-F128EBD386AE}"/>
              </a:ext>
            </a:extLst>
          </p:cNvPr>
          <p:cNvPicPr>
            <a:picLocks noChangeAspect="1"/>
          </p:cNvPicPr>
          <p:nvPr/>
        </p:nvPicPr>
        <p:blipFill>
          <a:blip r:embed="rId5">
            <a:duotone>
              <a:schemeClr val="accent6">
                <a:shade val="45000"/>
                <a:satMod val="135000"/>
              </a:schemeClr>
              <a:prstClr val="white"/>
            </a:duotone>
          </a:blip>
          <a:stretch>
            <a:fillRect/>
          </a:stretch>
        </p:blipFill>
        <p:spPr>
          <a:xfrm>
            <a:off x="291654" y="2840261"/>
            <a:ext cx="8707065" cy="1905266"/>
          </a:xfrm>
          <a:prstGeom prst="rect">
            <a:avLst/>
          </a:prstGeom>
        </p:spPr>
      </p:pic>
      <p:pic>
        <p:nvPicPr>
          <p:cNvPr id="12" name="Picture 11">
            <a:extLst>
              <a:ext uri="{FF2B5EF4-FFF2-40B4-BE49-F238E27FC236}">
                <a16:creationId xmlns:a16="http://schemas.microsoft.com/office/drawing/2014/main" id="{09E952B8-4772-E524-F39B-40FAC09996D8}"/>
              </a:ext>
            </a:extLst>
          </p:cNvPr>
          <p:cNvPicPr>
            <a:picLocks noChangeAspect="1"/>
          </p:cNvPicPr>
          <p:nvPr/>
        </p:nvPicPr>
        <p:blipFill>
          <a:blip r:embed="rId6"/>
          <a:stretch>
            <a:fillRect/>
          </a:stretch>
        </p:blipFill>
        <p:spPr>
          <a:xfrm>
            <a:off x="785527" y="5061439"/>
            <a:ext cx="7585490" cy="592911"/>
          </a:xfrm>
          <a:prstGeom prst="rect">
            <a:avLst/>
          </a:prstGeom>
        </p:spPr>
      </p:pic>
      <p:sp>
        <p:nvSpPr>
          <p:cNvPr id="13" name="TextBox 12">
            <a:extLst>
              <a:ext uri="{FF2B5EF4-FFF2-40B4-BE49-F238E27FC236}">
                <a16:creationId xmlns:a16="http://schemas.microsoft.com/office/drawing/2014/main" id="{A2314AC0-1A85-9DDF-5110-3D8913F15192}"/>
              </a:ext>
            </a:extLst>
          </p:cNvPr>
          <p:cNvSpPr txBox="1"/>
          <p:nvPr/>
        </p:nvSpPr>
        <p:spPr>
          <a:xfrm>
            <a:off x="3834881" y="5034640"/>
            <a:ext cx="270587" cy="369332"/>
          </a:xfrm>
          <a:prstGeom prst="rect">
            <a:avLst/>
          </a:prstGeom>
          <a:noFill/>
        </p:spPr>
        <p:txBody>
          <a:bodyPr wrap="square" rtlCol="0">
            <a:spAutoFit/>
          </a:bodyPr>
          <a:lstStyle/>
          <a:p>
            <a:r>
              <a:rPr lang="en-IN" b="1" dirty="0"/>
              <a:t>1</a:t>
            </a:r>
          </a:p>
        </p:txBody>
      </p:sp>
    </p:spTree>
    <p:extLst>
      <p:ext uri="{BB962C8B-B14F-4D97-AF65-F5344CB8AC3E}">
        <p14:creationId xmlns:p14="http://schemas.microsoft.com/office/powerpoint/2010/main" val="12348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4" name="Picture 3">
            <a:extLst>
              <a:ext uri="{FF2B5EF4-FFF2-40B4-BE49-F238E27FC236}">
                <a16:creationId xmlns:a16="http://schemas.microsoft.com/office/drawing/2014/main" id="{2365C2C0-B615-C56C-B516-A0FE3AA052FE}"/>
              </a:ext>
            </a:extLst>
          </p:cNvPr>
          <p:cNvPicPr>
            <a:picLocks noChangeAspect="1"/>
          </p:cNvPicPr>
          <p:nvPr/>
        </p:nvPicPr>
        <p:blipFill>
          <a:blip r:embed="rId4"/>
          <a:stretch>
            <a:fillRect/>
          </a:stretch>
        </p:blipFill>
        <p:spPr>
          <a:xfrm>
            <a:off x="371880" y="1497326"/>
            <a:ext cx="3505689" cy="371527"/>
          </a:xfrm>
          <a:prstGeom prst="rect">
            <a:avLst/>
          </a:prstGeom>
        </p:spPr>
      </p:pic>
      <p:pic>
        <p:nvPicPr>
          <p:cNvPr id="5" name="Picture 4">
            <a:extLst>
              <a:ext uri="{FF2B5EF4-FFF2-40B4-BE49-F238E27FC236}">
                <a16:creationId xmlns:a16="http://schemas.microsoft.com/office/drawing/2014/main" id="{CA342C51-CC9D-353F-C51F-54D112690CCB}"/>
              </a:ext>
            </a:extLst>
          </p:cNvPr>
          <p:cNvPicPr>
            <a:picLocks noChangeAspect="1"/>
          </p:cNvPicPr>
          <p:nvPr/>
        </p:nvPicPr>
        <p:blipFill>
          <a:blip r:embed="rId5">
            <a:duotone>
              <a:schemeClr val="accent6">
                <a:shade val="45000"/>
                <a:satMod val="135000"/>
              </a:schemeClr>
              <a:prstClr val="white"/>
            </a:duotone>
          </a:blip>
          <a:stretch>
            <a:fillRect/>
          </a:stretch>
        </p:blipFill>
        <p:spPr>
          <a:xfrm>
            <a:off x="722828" y="1888129"/>
            <a:ext cx="6704339" cy="4846768"/>
          </a:xfrm>
          <a:prstGeom prst="rect">
            <a:avLst/>
          </a:prstGeom>
        </p:spPr>
      </p:pic>
    </p:spTree>
    <p:extLst>
      <p:ext uri="{BB962C8B-B14F-4D97-AF65-F5344CB8AC3E}">
        <p14:creationId xmlns:p14="http://schemas.microsoft.com/office/powerpoint/2010/main" val="2197076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4" name="Picture 3">
            <a:extLst>
              <a:ext uri="{FF2B5EF4-FFF2-40B4-BE49-F238E27FC236}">
                <a16:creationId xmlns:a16="http://schemas.microsoft.com/office/drawing/2014/main" id="{2365C2C0-B615-C56C-B516-A0FE3AA052FE}"/>
              </a:ext>
            </a:extLst>
          </p:cNvPr>
          <p:cNvPicPr>
            <a:picLocks noChangeAspect="1"/>
          </p:cNvPicPr>
          <p:nvPr/>
        </p:nvPicPr>
        <p:blipFill>
          <a:blip r:embed="rId4"/>
          <a:stretch>
            <a:fillRect/>
          </a:stretch>
        </p:blipFill>
        <p:spPr>
          <a:xfrm>
            <a:off x="371880" y="1497326"/>
            <a:ext cx="3505689" cy="371527"/>
          </a:xfrm>
          <a:prstGeom prst="rect">
            <a:avLst/>
          </a:prstGeom>
        </p:spPr>
      </p:pic>
      <p:pic>
        <p:nvPicPr>
          <p:cNvPr id="5" name="Picture 4">
            <a:extLst>
              <a:ext uri="{FF2B5EF4-FFF2-40B4-BE49-F238E27FC236}">
                <a16:creationId xmlns:a16="http://schemas.microsoft.com/office/drawing/2014/main" id="{BAD96BF2-2AB1-6F59-5122-F09AA6160297}"/>
              </a:ext>
            </a:extLst>
          </p:cNvPr>
          <p:cNvPicPr>
            <a:picLocks noChangeAspect="1"/>
          </p:cNvPicPr>
          <p:nvPr/>
        </p:nvPicPr>
        <p:blipFill>
          <a:blip r:embed="rId5">
            <a:duotone>
              <a:schemeClr val="accent6">
                <a:shade val="45000"/>
                <a:satMod val="135000"/>
              </a:schemeClr>
              <a:prstClr val="white"/>
            </a:duotone>
          </a:blip>
          <a:stretch>
            <a:fillRect/>
          </a:stretch>
        </p:blipFill>
        <p:spPr>
          <a:xfrm>
            <a:off x="465798" y="2033849"/>
            <a:ext cx="7905840" cy="4252384"/>
          </a:xfrm>
          <a:prstGeom prst="rect">
            <a:avLst/>
          </a:prstGeom>
        </p:spPr>
      </p:pic>
    </p:spTree>
    <p:extLst>
      <p:ext uri="{BB962C8B-B14F-4D97-AF65-F5344CB8AC3E}">
        <p14:creationId xmlns:p14="http://schemas.microsoft.com/office/powerpoint/2010/main" val="341062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4" name="Picture 3">
            <a:extLst>
              <a:ext uri="{FF2B5EF4-FFF2-40B4-BE49-F238E27FC236}">
                <a16:creationId xmlns:a16="http://schemas.microsoft.com/office/drawing/2014/main" id="{2365C2C0-B615-C56C-B516-A0FE3AA052FE}"/>
              </a:ext>
            </a:extLst>
          </p:cNvPr>
          <p:cNvPicPr>
            <a:picLocks noChangeAspect="1"/>
          </p:cNvPicPr>
          <p:nvPr/>
        </p:nvPicPr>
        <p:blipFill>
          <a:blip r:embed="rId4"/>
          <a:stretch>
            <a:fillRect/>
          </a:stretch>
        </p:blipFill>
        <p:spPr>
          <a:xfrm>
            <a:off x="371880" y="1497326"/>
            <a:ext cx="3505689" cy="371527"/>
          </a:xfrm>
          <a:prstGeom prst="rect">
            <a:avLst/>
          </a:prstGeom>
        </p:spPr>
      </p:pic>
      <p:pic>
        <p:nvPicPr>
          <p:cNvPr id="5" name="Picture 4">
            <a:extLst>
              <a:ext uri="{FF2B5EF4-FFF2-40B4-BE49-F238E27FC236}">
                <a16:creationId xmlns:a16="http://schemas.microsoft.com/office/drawing/2014/main" id="{EDF595C6-CFB0-8470-AD99-CDD387EBABF7}"/>
              </a:ext>
            </a:extLst>
          </p:cNvPr>
          <p:cNvPicPr>
            <a:picLocks noChangeAspect="1"/>
          </p:cNvPicPr>
          <p:nvPr/>
        </p:nvPicPr>
        <p:blipFill>
          <a:blip r:embed="rId5">
            <a:duotone>
              <a:schemeClr val="accent6">
                <a:shade val="45000"/>
                <a:satMod val="135000"/>
              </a:schemeClr>
              <a:prstClr val="white"/>
            </a:duotone>
          </a:blip>
          <a:stretch>
            <a:fillRect/>
          </a:stretch>
        </p:blipFill>
        <p:spPr>
          <a:xfrm>
            <a:off x="459214" y="2049720"/>
            <a:ext cx="8735644" cy="3238952"/>
          </a:xfrm>
          <a:prstGeom prst="rect">
            <a:avLst/>
          </a:prstGeom>
        </p:spPr>
      </p:pic>
    </p:spTree>
    <p:extLst>
      <p:ext uri="{BB962C8B-B14F-4D97-AF65-F5344CB8AC3E}">
        <p14:creationId xmlns:p14="http://schemas.microsoft.com/office/powerpoint/2010/main" val="618007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4" name="Picture 3">
            <a:extLst>
              <a:ext uri="{FF2B5EF4-FFF2-40B4-BE49-F238E27FC236}">
                <a16:creationId xmlns:a16="http://schemas.microsoft.com/office/drawing/2014/main" id="{2365C2C0-B615-C56C-B516-A0FE3AA052FE}"/>
              </a:ext>
            </a:extLst>
          </p:cNvPr>
          <p:cNvPicPr>
            <a:picLocks noChangeAspect="1"/>
          </p:cNvPicPr>
          <p:nvPr/>
        </p:nvPicPr>
        <p:blipFill>
          <a:blip r:embed="rId4"/>
          <a:stretch>
            <a:fillRect/>
          </a:stretch>
        </p:blipFill>
        <p:spPr>
          <a:xfrm>
            <a:off x="371880" y="1497326"/>
            <a:ext cx="3505689" cy="371527"/>
          </a:xfrm>
          <a:prstGeom prst="rect">
            <a:avLst/>
          </a:prstGeom>
        </p:spPr>
      </p:pic>
      <p:pic>
        <p:nvPicPr>
          <p:cNvPr id="5" name="Picture 4">
            <a:extLst>
              <a:ext uri="{FF2B5EF4-FFF2-40B4-BE49-F238E27FC236}">
                <a16:creationId xmlns:a16="http://schemas.microsoft.com/office/drawing/2014/main" id="{98A17F39-72F5-6D88-1746-AE138D6297FF}"/>
              </a:ext>
            </a:extLst>
          </p:cNvPr>
          <p:cNvPicPr>
            <a:picLocks noChangeAspect="1"/>
          </p:cNvPicPr>
          <p:nvPr/>
        </p:nvPicPr>
        <p:blipFill>
          <a:blip r:embed="rId5"/>
          <a:stretch>
            <a:fillRect/>
          </a:stretch>
        </p:blipFill>
        <p:spPr>
          <a:xfrm>
            <a:off x="714791" y="2081687"/>
            <a:ext cx="7154303" cy="4205359"/>
          </a:xfrm>
          <a:prstGeom prst="rect">
            <a:avLst/>
          </a:prstGeom>
        </p:spPr>
      </p:pic>
    </p:spTree>
    <p:extLst>
      <p:ext uri="{BB962C8B-B14F-4D97-AF65-F5344CB8AC3E}">
        <p14:creationId xmlns:p14="http://schemas.microsoft.com/office/powerpoint/2010/main" val="3991544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4" name="Picture 3">
            <a:extLst>
              <a:ext uri="{FF2B5EF4-FFF2-40B4-BE49-F238E27FC236}">
                <a16:creationId xmlns:a16="http://schemas.microsoft.com/office/drawing/2014/main" id="{2365C2C0-B615-C56C-B516-A0FE3AA052FE}"/>
              </a:ext>
            </a:extLst>
          </p:cNvPr>
          <p:cNvPicPr>
            <a:picLocks noChangeAspect="1"/>
          </p:cNvPicPr>
          <p:nvPr/>
        </p:nvPicPr>
        <p:blipFill>
          <a:blip r:embed="rId4"/>
          <a:stretch>
            <a:fillRect/>
          </a:stretch>
        </p:blipFill>
        <p:spPr>
          <a:xfrm>
            <a:off x="371880" y="1497326"/>
            <a:ext cx="3505689" cy="371527"/>
          </a:xfrm>
          <a:prstGeom prst="rect">
            <a:avLst/>
          </a:prstGeom>
        </p:spPr>
      </p:pic>
      <p:pic>
        <p:nvPicPr>
          <p:cNvPr id="5" name="Picture 4">
            <a:extLst>
              <a:ext uri="{FF2B5EF4-FFF2-40B4-BE49-F238E27FC236}">
                <a16:creationId xmlns:a16="http://schemas.microsoft.com/office/drawing/2014/main" id="{B807E3C1-0FAC-10EB-95E6-7FEB9BB71CBA}"/>
              </a:ext>
            </a:extLst>
          </p:cNvPr>
          <p:cNvPicPr>
            <a:picLocks noChangeAspect="1"/>
          </p:cNvPicPr>
          <p:nvPr/>
        </p:nvPicPr>
        <p:blipFill>
          <a:blip r:embed="rId5"/>
          <a:stretch>
            <a:fillRect/>
          </a:stretch>
        </p:blipFill>
        <p:spPr>
          <a:xfrm>
            <a:off x="903725" y="2217918"/>
            <a:ext cx="2719124" cy="1878221"/>
          </a:xfrm>
          <a:prstGeom prst="rect">
            <a:avLst/>
          </a:prstGeom>
        </p:spPr>
      </p:pic>
      <p:pic>
        <p:nvPicPr>
          <p:cNvPr id="9" name="Picture 8">
            <a:extLst>
              <a:ext uri="{FF2B5EF4-FFF2-40B4-BE49-F238E27FC236}">
                <a16:creationId xmlns:a16="http://schemas.microsoft.com/office/drawing/2014/main" id="{1E98A4C5-8D57-7A49-D21C-8AE5D33F467E}"/>
              </a:ext>
            </a:extLst>
          </p:cNvPr>
          <p:cNvPicPr>
            <a:picLocks noChangeAspect="1"/>
          </p:cNvPicPr>
          <p:nvPr/>
        </p:nvPicPr>
        <p:blipFill>
          <a:blip r:embed="rId6"/>
          <a:stretch>
            <a:fillRect/>
          </a:stretch>
        </p:blipFill>
        <p:spPr>
          <a:xfrm>
            <a:off x="2994162" y="3913415"/>
            <a:ext cx="6203675" cy="2673998"/>
          </a:xfrm>
          <a:prstGeom prst="rect">
            <a:avLst/>
          </a:prstGeom>
        </p:spPr>
      </p:pic>
    </p:spTree>
    <p:extLst>
      <p:ext uri="{BB962C8B-B14F-4D97-AF65-F5344CB8AC3E}">
        <p14:creationId xmlns:p14="http://schemas.microsoft.com/office/powerpoint/2010/main" val="811438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4" name="Picture 3">
            <a:extLst>
              <a:ext uri="{FF2B5EF4-FFF2-40B4-BE49-F238E27FC236}">
                <a16:creationId xmlns:a16="http://schemas.microsoft.com/office/drawing/2014/main" id="{2365C2C0-B615-C56C-B516-A0FE3AA052FE}"/>
              </a:ext>
            </a:extLst>
          </p:cNvPr>
          <p:cNvPicPr>
            <a:picLocks noChangeAspect="1"/>
          </p:cNvPicPr>
          <p:nvPr/>
        </p:nvPicPr>
        <p:blipFill>
          <a:blip r:embed="rId4"/>
          <a:stretch>
            <a:fillRect/>
          </a:stretch>
        </p:blipFill>
        <p:spPr>
          <a:xfrm>
            <a:off x="371880" y="1497326"/>
            <a:ext cx="3505689" cy="371527"/>
          </a:xfrm>
          <a:prstGeom prst="rect">
            <a:avLst/>
          </a:prstGeom>
        </p:spPr>
      </p:pic>
      <p:pic>
        <p:nvPicPr>
          <p:cNvPr id="5" name="Picture 4">
            <a:extLst>
              <a:ext uri="{FF2B5EF4-FFF2-40B4-BE49-F238E27FC236}">
                <a16:creationId xmlns:a16="http://schemas.microsoft.com/office/drawing/2014/main" id="{B807E3C1-0FAC-10EB-95E6-7FEB9BB71CBA}"/>
              </a:ext>
            </a:extLst>
          </p:cNvPr>
          <p:cNvPicPr>
            <a:picLocks noChangeAspect="1"/>
          </p:cNvPicPr>
          <p:nvPr/>
        </p:nvPicPr>
        <p:blipFill>
          <a:blip r:embed="rId5"/>
          <a:stretch>
            <a:fillRect/>
          </a:stretch>
        </p:blipFill>
        <p:spPr>
          <a:xfrm>
            <a:off x="903725" y="2217918"/>
            <a:ext cx="2719124" cy="1878221"/>
          </a:xfrm>
          <a:prstGeom prst="rect">
            <a:avLst/>
          </a:prstGeom>
        </p:spPr>
      </p:pic>
      <p:pic>
        <p:nvPicPr>
          <p:cNvPr id="7" name="Picture 6">
            <a:extLst>
              <a:ext uri="{FF2B5EF4-FFF2-40B4-BE49-F238E27FC236}">
                <a16:creationId xmlns:a16="http://schemas.microsoft.com/office/drawing/2014/main" id="{205FE0C8-E92F-1C9D-048C-4E6A91E8B5F9}"/>
              </a:ext>
            </a:extLst>
          </p:cNvPr>
          <p:cNvPicPr>
            <a:picLocks noChangeAspect="1"/>
          </p:cNvPicPr>
          <p:nvPr/>
        </p:nvPicPr>
        <p:blipFill>
          <a:blip r:embed="rId6"/>
          <a:stretch>
            <a:fillRect/>
          </a:stretch>
        </p:blipFill>
        <p:spPr>
          <a:xfrm>
            <a:off x="2473905" y="4445204"/>
            <a:ext cx="6535062" cy="1924319"/>
          </a:xfrm>
          <a:prstGeom prst="rect">
            <a:avLst/>
          </a:prstGeom>
        </p:spPr>
      </p:pic>
    </p:spTree>
    <p:extLst>
      <p:ext uri="{BB962C8B-B14F-4D97-AF65-F5344CB8AC3E}">
        <p14:creationId xmlns:p14="http://schemas.microsoft.com/office/powerpoint/2010/main" val="4150868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7" name="Picture 6">
            <a:extLst>
              <a:ext uri="{FF2B5EF4-FFF2-40B4-BE49-F238E27FC236}">
                <a16:creationId xmlns:a16="http://schemas.microsoft.com/office/drawing/2014/main" id="{E92C2368-A562-938F-4719-EC5577B96AF5}"/>
              </a:ext>
            </a:extLst>
          </p:cNvPr>
          <p:cNvPicPr>
            <a:picLocks noChangeAspect="1"/>
          </p:cNvPicPr>
          <p:nvPr/>
        </p:nvPicPr>
        <p:blipFill>
          <a:blip r:embed="rId4"/>
          <a:stretch>
            <a:fillRect/>
          </a:stretch>
        </p:blipFill>
        <p:spPr>
          <a:xfrm>
            <a:off x="598883" y="1343117"/>
            <a:ext cx="2629267" cy="352474"/>
          </a:xfrm>
          <a:prstGeom prst="rect">
            <a:avLst/>
          </a:prstGeom>
        </p:spPr>
      </p:pic>
      <p:pic>
        <p:nvPicPr>
          <p:cNvPr id="11" name="Picture 10">
            <a:extLst>
              <a:ext uri="{FF2B5EF4-FFF2-40B4-BE49-F238E27FC236}">
                <a16:creationId xmlns:a16="http://schemas.microsoft.com/office/drawing/2014/main" id="{1B1EB83A-7713-F090-A670-DC5BB89DFE77}"/>
              </a:ext>
            </a:extLst>
          </p:cNvPr>
          <p:cNvPicPr>
            <a:picLocks noChangeAspect="1"/>
          </p:cNvPicPr>
          <p:nvPr/>
        </p:nvPicPr>
        <p:blipFill>
          <a:blip r:embed="rId5"/>
          <a:stretch>
            <a:fillRect/>
          </a:stretch>
        </p:blipFill>
        <p:spPr>
          <a:xfrm>
            <a:off x="794826" y="1718140"/>
            <a:ext cx="6324431" cy="4880610"/>
          </a:xfrm>
          <a:prstGeom prst="rect">
            <a:avLst/>
          </a:prstGeom>
        </p:spPr>
      </p:pic>
    </p:spTree>
    <p:extLst>
      <p:ext uri="{BB962C8B-B14F-4D97-AF65-F5344CB8AC3E}">
        <p14:creationId xmlns:p14="http://schemas.microsoft.com/office/powerpoint/2010/main" val="9694658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7" name="Picture 6">
            <a:extLst>
              <a:ext uri="{FF2B5EF4-FFF2-40B4-BE49-F238E27FC236}">
                <a16:creationId xmlns:a16="http://schemas.microsoft.com/office/drawing/2014/main" id="{E92C2368-A562-938F-4719-EC5577B96AF5}"/>
              </a:ext>
            </a:extLst>
          </p:cNvPr>
          <p:cNvPicPr>
            <a:picLocks noChangeAspect="1"/>
          </p:cNvPicPr>
          <p:nvPr/>
        </p:nvPicPr>
        <p:blipFill>
          <a:blip r:embed="rId4"/>
          <a:stretch>
            <a:fillRect/>
          </a:stretch>
        </p:blipFill>
        <p:spPr>
          <a:xfrm>
            <a:off x="598883" y="1343117"/>
            <a:ext cx="2629267" cy="352474"/>
          </a:xfrm>
          <a:prstGeom prst="rect">
            <a:avLst/>
          </a:prstGeom>
        </p:spPr>
      </p:pic>
      <p:pic>
        <p:nvPicPr>
          <p:cNvPr id="4" name="Picture 3">
            <a:extLst>
              <a:ext uri="{FF2B5EF4-FFF2-40B4-BE49-F238E27FC236}">
                <a16:creationId xmlns:a16="http://schemas.microsoft.com/office/drawing/2014/main" id="{2E1E2F2B-73FB-5671-04BD-7FCC75F9151F}"/>
              </a:ext>
            </a:extLst>
          </p:cNvPr>
          <p:cNvPicPr>
            <a:picLocks noChangeAspect="1"/>
          </p:cNvPicPr>
          <p:nvPr/>
        </p:nvPicPr>
        <p:blipFill>
          <a:blip r:embed="rId5"/>
          <a:stretch>
            <a:fillRect/>
          </a:stretch>
        </p:blipFill>
        <p:spPr>
          <a:xfrm>
            <a:off x="813276" y="1847629"/>
            <a:ext cx="5801535" cy="3162741"/>
          </a:xfrm>
          <a:prstGeom prst="rect">
            <a:avLst/>
          </a:prstGeom>
        </p:spPr>
      </p:pic>
    </p:spTree>
    <p:extLst>
      <p:ext uri="{BB962C8B-B14F-4D97-AF65-F5344CB8AC3E}">
        <p14:creationId xmlns:p14="http://schemas.microsoft.com/office/powerpoint/2010/main" val="1347927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7" name="Picture 6">
            <a:extLst>
              <a:ext uri="{FF2B5EF4-FFF2-40B4-BE49-F238E27FC236}">
                <a16:creationId xmlns:a16="http://schemas.microsoft.com/office/drawing/2014/main" id="{E92C2368-A562-938F-4719-EC5577B96AF5}"/>
              </a:ext>
            </a:extLst>
          </p:cNvPr>
          <p:cNvPicPr>
            <a:picLocks noChangeAspect="1"/>
          </p:cNvPicPr>
          <p:nvPr/>
        </p:nvPicPr>
        <p:blipFill>
          <a:blip r:embed="rId4"/>
          <a:stretch>
            <a:fillRect/>
          </a:stretch>
        </p:blipFill>
        <p:spPr>
          <a:xfrm>
            <a:off x="598883" y="1343117"/>
            <a:ext cx="2629267" cy="352474"/>
          </a:xfrm>
          <a:prstGeom prst="rect">
            <a:avLst/>
          </a:prstGeom>
        </p:spPr>
      </p:pic>
      <p:pic>
        <p:nvPicPr>
          <p:cNvPr id="4" name="Picture 3">
            <a:extLst>
              <a:ext uri="{FF2B5EF4-FFF2-40B4-BE49-F238E27FC236}">
                <a16:creationId xmlns:a16="http://schemas.microsoft.com/office/drawing/2014/main" id="{556F453B-AD3B-BC4B-FD9B-17B733FBF81C}"/>
              </a:ext>
            </a:extLst>
          </p:cNvPr>
          <p:cNvPicPr>
            <a:picLocks noChangeAspect="1"/>
          </p:cNvPicPr>
          <p:nvPr/>
        </p:nvPicPr>
        <p:blipFill>
          <a:blip r:embed="rId5"/>
          <a:stretch>
            <a:fillRect/>
          </a:stretch>
        </p:blipFill>
        <p:spPr>
          <a:xfrm>
            <a:off x="759871" y="1695591"/>
            <a:ext cx="6763694" cy="4420217"/>
          </a:xfrm>
          <a:prstGeom prst="rect">
            <a:avLst/>
          </a:prstGeom>
        </p:spPr>
      </p:pic>
    </p:spTree>
    <p:extLst>
      <p:ext uri="{BB962C8B-B14F-4D97-AF65-F5344CB8AC3E}">
        <p14:creationId xmlns:p14="http://schemas.microsoft.com/office/powerpoint/2010/main" val="13033845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Grover’s algorithm </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6E6EE8CF-2D56-FF7A-8C54-B3716EF1E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pic>
        <p:nvPicPr>
          <p:cNvPr id="7" name="Picture 6">
            <a:extLst>
              <a:ext uri="{FF2B5EF4-FFF2-40B4-BE49-F238E27FC236}">
                <a16:creationId xmlns:a16="http://schemas.microsoft.com/office/drawing/2014/main" id="{E92C2368-A562-938F-4719-EC5577B96AF5}"/>
              </a:ext>
            </a:extLst>
          </p:cNvPr>
          <p:cNvPicPr>
            <a:picLocks noChangeAspect="1"/>
          </p:cNvPicPr>
          <p:nvPr/>
        </p:nvPicPr>
        <p:blipFill>
          <a:blip r:embed="rId4"/>
          <a:stretch>
            <a:fillRect/>
          </a:stretch>
        </p:blipFill>
        <p:spPr>
          <a:xfrm>
            <a:off x="598883" y="1343117"/>
            <a:ext cx="2629267" cy="352474"/>
          </a:xfrm>
          <a:prstGeom prst="rect">
            <a:avLst/>
          </a:prstGeom>
        </p:spPr>
      </p:pic>
      <p:pic>
        <p:nvPicPr>
          <p:cNvPr id="4" name="Picture 3">
            <a:extLst>
              <a:ext uri="{FF2B5EF4-FFF2-40B4-BE49-F238E27FC236}">
                <a16:creationId xmlns:a16="http://schemas.microsoft.com/office/drawing/2014/main" id="{3ADAEB6B-8E1A-295A-281C-F1F4DF7CA961}"/>
              </a:ext>
            </a:extLst>
          </p:cNvPr>
          <p:cNvPicPr>
            <a:picLocks noChangeAspect="1"/>
          </p:cNvPicPr>
          <p:nvPr/>
        </p:nvPicPr>
        <p:blipFill>
          <a:blip r:embed="rId5"/>
          <a:stretch>
            <a:fillRect/>
          </a:stretch>
        </p:blipFill>
        <p:spPr>
          <a:xfrm>
            <a:off x="707255" y="1734230"/>
            <a:ext cx="6639852" cy="2448267"/>
          </a:xfrm>
          <a:prstGeom prst="rect">
            <a:avLst/>
          </a:prstGeom>
        </p:spPr>
      </p:pic>
      <p:sp>
        <p:nvSpPr>
          <p:cNvPr id="5" name="TextBox 4">
            <a:extLst>
              <a:ext uri="{FF2B5EF4-FFF2-40B4-BE49-F238E27FC236}">
                <a16:creationId xmlns:a16="http://schemas.microsoft.com/office/drawing/2014/main" id="{2C5342D2-17FC-7D94-FA82-E1C051A58E47}"/>
              </a:ext>
            </a:extLst>
          </p:cNvPr>
          <p:cNvSpPr txBox="1"/>
          <p:nvPr/>
        </p:nvSpPr>
        <p:spPr>
          <a:xfrm>
            <a:off x="802433" y="4301412"/>
            <a:ext cx="5458408" cy="382555"/>
          </a:xfrm>
          <a:prstGeom prst="rect">
            <a:avLst/>
          </a:prstGeom>
          <a:noFill/>
        </p:spPr>
        <p:txBody>
          <a:bodyPr wrap="square" rtlCol="0">
            <a:spAutoFit/>
          </a:bodyPr>
          <a:lstStyle/>
          <a:p>
            <a:r>
              <a:rPr lang="en-IN" b="1" dirty="0"/>
              <a:t>Grover algorithm for search of more than one element</a:t>
            </a:r>
          </a:p>
        </p:txBody>
      </p:sp>
      <p:sp>
        <p:nvSpPr>
          <p:cNvPr id="11" name="TextBox 10">
            <a:extLst>
              <a:ext uri="{FF2B5EF4-FFF2-40B4-BE49-F238E27FC236}">
                <a16:creationId xmlns:a16="http://schemas.microsoft.com/office/drawing/2014/main" id="{81B2618E-4879-6C25-BEC7-F633E8FE6755}"/>
              </a:ext>
            </a:extLst>
          </p:cNvPr>
          <p:cNvSpPr txBox="1"/>
          <p:nvPr/>
        </p:nvSpPr>
        <p:spPr>
          <a:xfrm>
            <a:off x="707255" y="4907771"/>
            <a:ext cx="6102220" cy="923330"/>
          </a:xfrm>
          <a:prstGeom prst="rect">
            <a:avLst/>
          </a:prstGeom>
          <a:noFill/>
        </p:spPr>
        <p:txBody>
          <a:bodyPr wrap="square">
            <a:spAutoFit/>
          </a:bodyPr>
          <a:lstStyle/>
          <a:p>
            <a:r>
              <a:rPr lang="en-IN" dirty="0">
                <a:hlinkClick r:id="rId6"/>
              </a:rPr>
              <a:t>https://quantumcomputing.stackexchange.com/questions/5318/grover-algorithm-for-more-than-one-element</a:t>
            </a:r>
            <a:endParaRPr lang="en-IN" dirty="0"/>
          </a:p>
          <a:p>
            <a:endParaRPr lang="en-IN" dirty="0"/>
          </a:p>
        </p:txBody>
      </p:sp>
      <p:sp>
        <p:nvSpPr>
          <p:cNvPr id="12" name="TextBox 11">
            <a:extLst>
              <a:ext uri="{FF2B5EF4-FFF2-40B4-BE49-F238E27FC236}">
                <a16:creationId xmlns:a16="http://schemas.microsoft.com/office/drawing/2014/main" id="{0FE81B88-E185-80B6-9374-EBBE1AF50297}"/>
              </a:ext>
            </a:extLst>
          </p:cNvPr>
          <p:cNvSpPr txBox="1"/>
          <p:nvPr/>
        </p:nvSpPr>
        <p:spPr>
          <a:xfrm>
            <a:off x="802433" y="5794310"/>
            <a:ext cx="7781730" cy="923330"/>
          </a:xfrm>
          <a:prstGeom prst="rect">
            <a:avLst/>
          </a:prstGeom>
          <a:noFill/>
        </p:spPr>
        <p:txBody>
          <a:bodyPr wrap="square" rtlCol="0">
            <a:spAutoFit/>
          </a:bodyPr>
          <a:lstStyle/>
          <a:p>
            <a:r>
              <a:rPr lang="en-IN" dirty="0"/>
              <a:t>Implementation: </a:t>
            </a:r>
            <a:r>
              <a:rPr lang="en-IN" dirty="0">
                <a:hlinkClick r:id="rId7"/>
              </a:rPr>
              <a:t>https://cnot.io/quantum_algorithms/grover/grovers_algorithm.html</a:t>
            </a:r>
            <a:endParaRPr lang="en-IN" dirty="0"/>
          </a:p>
          <a:p>
            <a:endParaRPr lang="en-IN" dirty="0"/>
          </a:p>
        </p:txBody>
      </p:sp>
    </p:spTree>
    <p:extLst>
      <p:ext uri="{BB962C8B-B14F-4D97-AF65-F5344CB8AC3E}">
        <p14:creationId xmlns:p14="http://schemas.microsoft.com/office/powerpoint/2010/main" val="1789903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2. Simon’s algorithm</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2" name="Picture 1">
            <a:extLst>
              <a:ext uri="{FF2B5EF4-FFF2-40B4-BE49-F238E27FC236}">
                <a16:creationId xmlns:a16="http://schemas.microsoft.com/office/drawing/2014/main" id="{97B32161-4A8D-F9C4-8952-019BFC32C3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008" y="2217918"/>
            <a:ext cx="2300109" cy="1480892"/>
          </a:xfrm>
          <a:prstGeom prst="rect">
            <a:avLst/>
          </a:prstGeom>
        </p:spPr>
      </p:pic>
      <p:sp>
        <p:nvSpPr>
          <p:cNvPr id="5" name="TextBox 4">
            <a:extLst>
              <a:ext uri="{FF2B5EF4-FFF2-40B4-BE49-F238E27FC236}">
                <a16:creationId xmlns:a16="http://schemas.microsoft.com/office/drawing/2014/main" id="{C39BD5D2-9CB3-7091-0310-7CF71BA6F0FF}"/>
              </a:ext>
            </a:extLst>
          </p:cNvPr>
          <p:cNvSpPr txBox="1"/>
          <p:nvPr/>
        </p:nvSpPr>
        <p:spPr>
          <a:xfrm>
            <a:off x="606490" y="1567543"/>
            <a:ext cx="7262604" cy="1477328"/>
          </a:xfrm>
          <a:prstGeom prst="rect">
            <a:avLst/>
          </a:prstGeom>
          <a:noFill/>
        </p:spPr>
        <p:txBody>
          <a:bodyPr wrap="square" rtlCol="0">
            <a:spAutoFit/>
          </a:bodyPr>
          <a:lstStyle/>
          <a:p>
            <a:r>
              <a:rPr lang="en-IN" dirty="0"/>
              <a:t>Directly from Daniel Simon: </a:t>
            </a:r>
          </a:p>
          <a:p>
            <a:endParaRPr lang="en-IN" dirty="0"/>
          </a:p>
          <a:p>
            <a:r>
              <a:rPr lang="en-IN" dirty="0">
                <a:hlinkClick r:id="rId4"/>
              </a:rPr>
              <a:t>https://aws.amazon.com/blogs/quantum-computing/simons-algorithm/</a:t>
            </a:r>
            <a:endParaRPr lang="en-IN" dirty="0"/>
          </a:p>
          <a:p>
            <a:endParaRPr lang="en-IN" dirty="0"/>
          </a:p>
          <a:p>
            <a:endParaRPr lang="en-IN" dirty="0"/>
          </a:p>
        </p:txBody>
      </p:sp>
    </p:spTree>
    <p:extLst>
      <p:ext uri="{BB962C8B-B14F-4D97-AF65-F5344CB8AC3E}">
        <p14:creationId xmlns:p14="http://schemas.microsoft.com/office/powerpoint/2010/main" val="41997663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473B520-A9D1-472D-B234-C4032DD0E596}"/>
              </a:ext>
            </a:extLst>
          </p:cNvPr>
          <p:cNvCxnSpPr>
            <a:cxnSpLocks/>
          </p:cNvCxnSpPr>
          <p:nvPr/>
        </p:nvCxnSpPr>
        <p:spPr>
          <a:xfrm flipV="1">
            <a:off x="5448168" y="2887307"/>
            <a:ext cx="4581449" cy="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EC43E8D5-98D6-4BA6-B3EA-B5411DA566A9}"/>
              </a:ext>
            </a:extLst>
          </p:cNvPr>
          <p:cNvSpPr/>
          <p:nvPr/>
        </p:nvSpPr>
        <p:spPr>
          <a:xfrm>
            <a:off x="5448168" y="4660168"/>
            <a:ext cx="7497214" cy="461665"/>
          </a:xfrm>
          <a:prstGeom prst="rect">
            <a:avLst/>
          </a:prstGeom>
        </p:spPr>
        <p:txBody>
          <a:bodyPr wrap="square">
            <a:spAutoFit/>
          </a:bodyPr>
          <a:lstStyle/>
          <a:p>
            <a:r>
              <a:rPr lang="en-US" sz="2400" b="1" dirty="0"/>
              <a:t>kaustavbhowmick@pes.edu</a:t>
            </a:r>
            <a:endParaRPr lang="en-IN" sz="2400" b="1" dirty="0"/>
          </a:p>
        </p:txBody>
      </p:sp>
      <p:grpSp>
        <p:nvGrpSpPr>
          <p:cNvPr id="13" name="Group 12">
            <a:extLst>
              <a:ext uri="{FF2B5EF4-FFF2-40B4-BE49-F238E27FC236}">
                <a16:creationId xmlns:a16="http://schemas.microsoft.com/office/drawing/2014/main" id="{0B436274-E913-46F7-B58F-E0B0713EC594}"/>
              </a:ext>
            </a:extLst>
          </p:cNvPr>
          <p:cNvGrpSpPr/>
          <p:nvPr/>
        </p:nvGrpSpPr>
        <p:grpSpPr>
          <a:xfrm>
            <a:off x="313844" y="349466"/>
            <a:ext cx="11518407" cy="6218388"/>
            <a:chOff x="313844" y="349466"/>
            <a:chExt cx="11518407" cy="6218388"/>
          </a:xfrm>
          <a:solidFill>
            <a:schemeClr val="accent2">
              <a:lumMod val="75000"/>
            </a:schemeClr>
          </a:solidFill>
        </p:grpSpPr>
        <p:sp>
          <p:nvSpPr>
            <p:cNvPr id="14" name="Rectangle 13">
              <a:extLst>
                <a:ext uri="{FF2B5EF4-FFF2-40B4-BE49-F238E27FC236}">
                  <a16:creationId xmlns:a16="http://schemas.microsoft.com/office/drawing/2014/main" id="{54B9092D-46D3-4724-A230-51F43D78A967}"/>
                </a:ext>
              </a:extLst>
            </p:cNvPr>
            <p:cNvSpPr/>
            <p:nvPr/>
          </p:nvSpPr>
          <p:spPr>
            <a:xfrm>
              <a:off x="11786532" y="360726"/>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B5E94C15-EFC4-4DC4-AE91-4D6631C438BE}"/>
                </a:ext>
              </a:extLst>
            </p:cNvPr>
            <p:cNvSpPr/>
            <p:nvPr/>
          </p:nvSpPr>
          <p:spPr>
            <a:xfrm rot="5400000">
              <a:off x="11275944" y="-161122"/>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828287AB-A481-4BDF-BE49-1BBA364237E1}"/>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EC3328F7-E593-44F8-A55A-576E1E3E973D}"/>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8" name="Picture 17" descr="A close up of a logo&#10;&#10;Description automatically generated">
            <a:extLst>
              <a:ext uri="{FF2B5EF4-FFF2-40B4-BE49-F238E27FC236}">
                <a16:creationId xmlns:a16="http://schemas.microsoft.com/office/drawing/2014/main" id="{A88F3CC2-5C5B-4685-8D94-FFC4B5D64C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11974" y="1606241"/>
            <a:ext cx="2369218" cy="3550188"/>
          </a:xfrm>
          <a:prstGeom prst="rect">
            <a:avLst/>
          </a:prstGeom>
        </p:spPr>
      </p:pic>
      <p:sp>
        <p:nvSpPr>
          <p:cNvPr id="19" name="Rectangle 18">
            <a:extLst>
              <a:ext uri="{FF2B5EF4-FFF2-40B4-BE49-F238E27FC236}">
                <a16:creationId xmlns:a16="http://schemas.microsoft.com/office/drawing/2014/main" id="{94BAC35B-0C86-48BD-81AE-8629CCB2734E}"/>
              </a:ext>
            </a:extLst>
          </p:cNvPr>
          <p:cNvSpPr/>
          <p:nvPr/>
        </p:nvSpPr>
        <p:spPr>
          <a:xfrm>
            <a:off x="5448168" y="2049518"/>
            <a:ext cx="4603806" cy="665240"/>
          </a:xfrm>
          <a:prstGeom prst="rect">
            <a:avLst/>
          </a:prstGeom>
        </p:spPr>
        <p:txBody>
          <a:bodyPr wrap="square">
            <a:spAutoFit/>
          </a:bodyPr>
          <a:lstStyle/>
          <a:p>
            <a:r>
              <a:rPr lang="en-US" sz="3600" b="1" dirty="0">
                <a:solidFill>
                  <a:schemeClr val="accent2">
                    <a:lumMod val="75000"/>
                  </a:schemeClr>
                </a:solidFill>
              </a:rPr>
              <a:t>T</a:t>
            </a:r>
            <a:r>
              <a:rPr lang="en-IN" sz="3600" b="1" dirty="0">
                <a:solidFill>
                  <a:schemeClr val="accent2">
                    <a:lumMod val="75000"/>
                  </a:schemeClr>
                </a:solidFill>
              </a:rPr>
              <a:t>HANK YOU</a:t>
            </a:r>
          </a:p>
        </p:txBody>
      </p:sp>
      <p:sp>
        <p:nvSpPr>
          <p:cNvPr id="20" name="Rectangle 19">
            <a:extLst>
              <a:ext uri="{FF2B5EF4-FFF2-40B4-BE49-F238E27FC236}">
                <a16:creationId xmlns:a16="http://schemas.microsoft.com/office/drawing/2014/main" id="{97E8DF64-61DB-4438-8664-105788459AD2}"/>
              </a:ext>
            </a:extLst>
          </p:cNvPr>
          <p:cNvSpPr/>
          <p:nvPr/>
        </p:nvSpPr>
        <p:spPr>
          <a:xfrm>
            <a:off x="5448168" y="3128242"/>
            <a:ext cx="7497214" cy="461665"/>
          </a:xfrm>
          <a:prstGeom prst="rect">
            <a:avLst/>
          </a:prstGeom>
        </p:spPr>
        <p:txBody>
          <a:bodyPr wrap="square">
            <a:spAutoFit/>
          </a:bodyPr>
          <a:lstStyle/>
          <a:p>
            <a:r>
              <a:rPr lang="en-US" sz="2400" b="1" dirty="0"/>
              <a:t>Dr. Kaustav Bhowmick</a:t>
            </a:r>
            <a:endParaRPr lang="en-IN" sz="2400" b="1" dirty="0"/>
          </a:p>
        </p:txBody>
      </p:sp>
      <p:sp>
        <p:nvSpPr>
          <p:cNvPr id="21" name="Rectangle 20">
            <a:extLst>
              <a:ext uri="{FF2B5EF4-FFF2-40B4-BE49-F238E27FC236}">
                <a16:creationId xmlns:a16="http://schemas.microsoft.com/office/drawing/2014/main" id="{0916C8C7-6436-48A9-9CF7-1AAC7653EAAE}"/>
              </a:ext>
            </a:extLst>
          </p:cNvPr>
          <p:cNvSpPr/>
          <p:nvPr/>
        </p:nvSpPr>
        <p:spPr>
          <a:xfrm>
            <a:off x="5448168" y="3557265"/>
            <a:ext cx="7497214" cy="830997"/>
          </a:xfrm>
          <a:prstGeom prst="rect">
            <a:avLst/>
          </a:prstGeom>
        </p:spPr>
        <p:txBody>
          <a:bodyPr wrap="square">
            <a:spAutoFit/>
          </a:bodyPr>
          <a:lstStyle/>
          <a:p>
            <a:r>
              <a:rPr lang="en-US" sz="2400" dirty="0"/>
              <a:t>Department of Electronics &amp; Communication </a:t>
            </a:r>
          </a:p>
          <a:p>
            <a:r>
              <a:rPr lang="en-US" sz="2400" dirty="0"/>
              <a:t>Engineering</a:t>
            </a:r>
            <a:endParaRPr lang="en-IN" sz="2400" dirty="0"/>
          </a:p>
        </p:txBody>
      </p:sp>
    </p:spTree>
    <p:extLst>
      <p:ext uri="{BB962C8B-B14F-4D97-AF65-F5344CB8AC3E}">
        <p14:creationId xmlns:p14="http://schemas.microsoft.com/office/powerpoint/2010/main" val="1459503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4832</TotalTime>
  <Words>574</Words>
  <Application>Microsoft Office PowerPoint</Application>
  <PresentationFormat>Widescreen</PresentationFormat>
  <Paragraphs>88</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Krishna Venkataram</dc:creator>
  <cp:lastModifiedBy>Kaustav Bhowmick</cp:lastModifiedBy>
  <cp:revision>292</cp:revision>
  <dcterms:created xsi:type="dcterms:W3CDTF">2020-06-03T14:19:11Z</dcterms:created>
  <dcterms:modified xsi:type="dcterms:W3CDTF">2023-11-18T06:38:15Z</dcterms:modified>
</cp:coreProperties>
</file>