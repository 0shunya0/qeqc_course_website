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7" r:id="rId2"/>
    <p:sldId id="358" r:id="rId3"/>
    <p:sldId id="366" r:id="rId4"/>
    <p:sldId id="367" r:id="rId5"/>
    <p:sldId id="368" r:id="rId6"/>
    <p:sldId id="369" r:id="rId7"/>
    <p:sldId id="406" r:id="rId8"/>
    <p:sldId id="407" r:id="rId9"/>
    <p:sldId id="408" r:id="rId10"/>
    <p:sldId id="370" r:id="rId11"/>
    <p:sldId id="409" r:id="rId12"/>
    <p:sldId id="410" r:id="rId13"/>
    <p:sldId id="411" r:id="rId14"/>
    <p:sldId id="412" r:id="rId15"/>
    <p:sldId id="413" r:id="rId16"/>
    <p:sldId id="416" r:id="rId17"/>
    <p:sldId id="417" r:id="rId18"/>
    <p:sldId id="418" r:id="rId19"/>
    <p:sldId id="429" r:id="rId20"/>
    <p:sldId id="419" r:id="rId21"/>
    <p:sldId id="420" r:id="rId22"/>
    <p:sldId id="421" r:id="rId23"/>
    <p:sldId id="422" r:id="rId24"/>
    <p:sldId id="423" r:id="rId25"/>
    <p:sldId id="424" r:id="rId26"/>
    <p:sldId id="425" r:id="rId27"/>
    <p:sldId id="426" r:id="rId28"/>
    <p:sldId id="428" r:id="rId29"/>
    <p:sldId id="405" r:id="rId30"/>
    <p:sldId id="430" r:id="rId31"/>
    <p:sldId id="321" r:id="rId32"/>
    <p:sldId id="34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19D2"/>
    <a:srgbClr val="E71D3A"/>
    <a:srgbClr val="E0E509"/>
    <a:srgbClr val="F735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90" autoAdjust="0"/>
    <p:restoredTop sz="94660"/>
  </p:normalViewPr>
  <p:slideViewPr>
    <p:cSldViewPr snapToGrid="0">
      <p:cViewPr varScale="1">
        <p:scale>
          <a:sx n="85" d="100"/>
          <a:sy n="85" d="100"/>
        </p:scale>
        <p:origin x="595"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E7196-0A1D-43F9-96F8-6131A8C3E5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91A347-14E4-4DA6-8466-E20F5DD0C1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25BB59-6C06-4608-B9C2-AFD556E0E88B}"/>
              </a:ext>
            </a:extLst>
          </p:cNvPr>
          <p:cNvSpPr>
            <a:spLocks noGrp="1"/>
          </p:cNvSpPr>
          <p:nvPr>
            <p:ph type="dt" sz="half" idx="10"/>
          </p:nvPr>
        </p:nvSpPr>
        <p:spPr/>
        <p:txBody>
          <a:bodyPr/>
          <a:lstStyle/>
          <a:p>
            <a:fld id="{3717A1C5-95F7-4229-A93B-29F7FF3DA000}" type="datetimeFigureOut">
              <a:rPr lang="en-IN" smtClean="0"/>
              <a:pPr/>
              <a:t>24-08-2026</a:t>
            </a:fld>
            <a:endParaRPr lang="en-IN"/>
          </a:p>
        </p:txBody>
      </p:sp>
      <p:sp>
        <p:nvSpPr>
          <p:cNvPr id="5" name="Footer Placeholder 4">
            <a:extLst>
              <a:ext uri="{FF2B5EF4-FFF2-40B4-BE49-F238E27FC236}">
                <a16:creationId xmlns:a16="http://schemas.microsoft.com/office/drawing/2014/main" id="{DE024737-A7EA-405D-9C53-00DC763580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AFCA8F-5152-4E17-A634-AAC30C0A16CE}"/>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50938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97697-0E3B-45DE-993E-41D6192C54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F5D431-817D-468E-AC74-4AEFB8C24B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E66076-D71B-432E-B3DA-D6BFA8E70485}"/>
              </a:ext>
            </a:extLst>
          </p:cNvPr>
          <p:cNvSpPr>
            <a:spLocks noGrp="1"/>
          </p:cNvSpPr>
          <p:nvPr>
            <p:ph type="dt" sz="half" idx="10"/>
          </p:nvPr>
        </p:nvSpPr>
        <p:spPr/>
        <p:txBody>
          <a:bodyPr/>
          <a:lstStyle/>
          <a:p>
            <a:fld id="{3717A1C5-95F7-4229-A93B-29F7FF3DA000}" type="datetimeFigureOut">
              <a:rPr lang="en-IN" smtClean="0"/>
              <a:pPr/>
              <a:t>24-08-2026</a:t>
            </a:fld>
            <a:endParaRPr lang="en-IN"/>
          </a:p>
        </p:txBody>
      </p:sp>
      <p:sp>
        <p:nvSpPr>
          <p:cNvPr id="5" name="Footer Placeholder 4">
            <a:extLst>
              <a:ext uri="{FF2B5EF4-FFF2-40B4-BE49-F238E27FC236}">
                <a16:creationId xmlns:a16="http://schemas.microsoft.com/office/drawing/2014/main" id="{86E9EAE1-A891-420F-AABF-E5D357075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050AF0-4B82-4D90-9977-2702EFAD047E}"/>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3998037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6000-B1F3-49B4-8840-4F2FE09F31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9AD8B6-0C53-47EB-9E27-9A8CFF9C0D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4A0F0A-5BC1-44A8-A937-DAAFBEA3CE4A}"/>
              </a:ext>
            </a:extLst>
          </p:cNvPr>
          <p:cNvSpPr>
            <a:spLocks noGrp="1"/>
          </p:cNvSpPr>
          <p:nvPr>
            <p:ph type="dt" sz="half" idx="10"/>
          </p:nvPr>
        </p:nvSpPr>
        <p:spPr/>
        <p:txBody>
          <a:bodyPr/>
          <a:lstStyle/>
          <a:p>
            <a:fld id="{3717A1C5-95F7-4229-A93B-29F7FF3DA000}" type="datetimeFigureOut">
              <a:rPr lang="en-IN" smtClean="0"/>
              <a:pPr/>
              <a:t>24-08-2026</a:t>
            </a:fld>
            <a:endParaRPr lang="en-IN"/>
          </a:p>
        </p:txBody>
      </p:sp>
      <p:sp>
        <p:nvSpPr>
          <p:cNvPr id="5" name="Footer Placeholder 4">
            <a:extLst>
              <a:ext uri="{FF2B5EF4-FFF2-40B4-BE49-F238E27FC236}">
                <a16:creationId xmlns:a16="http://schemas.microsoft.com/office/drawing/2014/main" id="{D516B7DB-3DF3-4E87-84F1-6D3BB836F2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586888-F8BA-4159-BE04-8C9B0A74B0BB}"/>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891180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BC13-A691-4A44-8F09-DEAB94E6E2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0470BA-CF69-482F-86D7-B3B2B81039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EF3F02-F9D9-4D4B-932D-10D3C70151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154D0B3-961E-4BAC-9CA4-08D89CF82A20}"/>
              </a:ext>
            </a:extLst>
          </p:cNvPr>
          <p:cNvSpPr>
            <a:spLocks noGrp="1"/>
          </p:cNvSpPr>
          <p:nvPr>
            <p:ph type="dt" sz="half" idx="10"/>
          </p:nvPr>
        </p:nvSpPr>
        <p:spPr/>
        <p:txBody>
          <a:bodyPr/>
          <a:lstStyle/>
          <a:p>
            <a:fld id="{3717A1C5-95F7-4229-A93B-29F7FF3DA000}" type="datetimeFigureOut">
              <a:rPr lang="en-IN" smtClean="0"/>
              <a:pPr/>
              <a:t>24-08-2026</a:t>
            </a:fld>
            <a:endParaRPr lang="en-IN"/>
          </a:p>
        </p:txBody>
      </p:sp>
      <p:sp>
        <p:nvSpPr>
          <p:cNvPr id="6" name="Footer Placeholder 5">
            <a:extLst>
              <a:ext uri="{FF2B5EF4-FFF2-40B4-BE49-F238E27FC236}">
                <a16:creationId xmlns:a16="http://schemas.microsoft.com/office/drawing/2014/main" id="{8DD4364F-C564-48E4-84D0-352B17CE69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B6F2F7-150E-4C49-B6B7-8E72E6E8E5A4}"/>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175150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61F13-E7B0-4450-891A-12D3F00317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070134-48F1-45F0-9C63-38634B426A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F6F59C-8B0A-4097-8A5D-BA9FB1FC2E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0E4A01-83B3-465C-B056-C028FF594C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DF7CD2-C62B-450F-A438-929A17296D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13DBE79-A9B6-48AB-9F01-88AA6A05B5CE}"/>
              </a:ext>
            </a:extLst>
          </p:cNvPr>
          <p:cNvSpPr>
            <a:spLocks noGrp="1"/>
          </p:cNvSpPr>
          <p:nvPr>
            <p:ph type="dt" sz="half" idx="10"/>
          </p:nvPr>
        </p:nvSpPr>
        <p:spPr/>
        <p:txBody>
          <a:bodyPr/>
          <a:lstStyle/>
          <a:p>
            <a:fld id="{3717A1C5-95F7-4229-A93B-29F7FF3DA000}" type="datetimeFigureOut">
              <a:rPr lang="en-IN" smtClean="0"/>
              <a:pPr/>
              <a:t>24-08-2026</a:t>
            </a:fld>
            <a:endParaRPr lang="en-IN"/>
          </a:p>
        </p:txBody>
      </p:sp>
      <p:sp>
        <p:nvSpPr>
          <p:cNvPr id="8" name="Footer Placeholder 7">
            <a:extLst>
              <a:ext uri="{FF2B5EF4-FFF2-40B4-BE49-F238E27FC236}">
                <a16:creationId xmlns:a16="http://schemas.microsoft.com/office/drawing/2014/main" id="{FCA1A849-F61D-416C-82D9-FD2F0D5B297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4E5968-BD8E-49EA-B1C0-883FDCD51EFD}"/>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4074283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5C0C5-C1DF-4B30-86BF-702058A090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980EB2-6319-452D-816A-655EE9C34746}"/>
              </a:ext>
            </a:extLst>
          </p:cNvPr>
          <p:cNvSpPr>
            <a:spLocks noGrp="1"/>
          </p:cNvSpPr>
          <p:nvPr>
            <p:ph type="dt" sz="half" idx="10"/>
          </p:nvPr>
        </p:nvSpPr>
        <p:spPr/>
        <p:txBody>
          <a:bodyPr/>
          <a:lstStyle/>
          <a:p>
            <a:fld id="{3717A1C5-95F7-4229-A93B-29F7FF3DA000}" type="datetimeFigureOut">
              <a:rPr lang="en-IN" smtClean="0"/>
              <a:pPr/>
              <a:t>24-08-2026</a:t>
            </a:fld>
            <a:endParaRPr lang="en-IN"/>
          </a:p>
        </p:txBody>
      </p:sp>
      <p:sp>
        <p:nvSpPr>
          <p:cNvPr id="4" name="Footer Placeholder 3">
            <a:extLst>
              <a:ext uri="{FF2B5EF4-FFF2-40B4-BE49-F238E27FC236}">
                <a16:creationId xmlns:a16="http://schemas.microsoft.com/office/drawing/2014/main" id="{12847E02-77DD-4F7C-9461-431051F308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5B48EC9-FFDF-4F14-A006-9ED08C221D7A}"/>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735135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AC4010-3CC3-4ED9-BC47-437A2B95829A}"/>
              </a:ext>
            </a:extLst>
          </p:cNvPr>
          <p:cNvSpPr>
            <a:spLocks noGrp="1"/>
          </p:cNvSpPr>
          <p:nvPr>
            <p:ph type="dt" sz="half" idx="10"/>
          </p:nvPr>
        </p:nvSpPr>
        <p:spPr/>
        <p:txBody>
          <a:bodyPr/>
          <a:lstStyle/>
          <a:p>
            <a:fld id="{3717A1C5-95F7-4229-A93B-29F7FF3DA000}" type="datetimeFigureOut">
              <a:rPr lang="en-IN" smtClean="0"/>
              <a:pPr/>
              <a:t>24-08-2026</a:t>
            </a:fld>
            <a:endParaRPr lang="en-IN"/>
          </a:p>
        </p:txBody>
      </p:sp>
      <p:sp>
        <p:nvSpPr>
          <p:cNvPr id="3" name="Footer Placeholder 2">
            <a:extLst>
              <a:ext uri="{FF2B5EF4-FFF2-40B4-BE49-F238E27FC236}">
                <a16:creationId xmlns:a16="http://schemas.microsoft.com/office/drawing/2014/main" id="{E80484C3-38E2-44A7-AD87-98DF739A72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707CE2B-838A-454A-852B-8EAFFA5BCF9F}"/>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1180888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18C39-136A-490F-82E6-B74F16102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4E3FA5-A6D0-407B-9353-45807BDC70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65529D-8A1D-4CEC-ACF2-A9668B5DFA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1B61FA-7B4A-49EE-9F1B-8F14E749EEA0}"/>
              </a:ext>
            </a:extLst>
          </p:cNvPr>
          <p:cNvSpPr>
            <a:spLocks noGrp="1"/>
          </p:cNvSpPr>
          <p:nvPr>
            <p:ph type="dt" sz="half" idx="10"/>
          </p:nvPr>
        </p:nvSpPr>
        <p:spPr/>
        <p:txBody>
          <a:bodyPr/>
          <a:lstStyle/>
          <a:p>
            <a:fld id="{3717A1C5-95F7-4229-A93B-29F7FF3DA000}" type="datetimeFigureOut">
              <a:rPr lang="en-IN" smtClean="0"/>
              <a:pPr/>
              <a:t>24-08-2026</a:t>
            </a:fld>
            <a:endParaRPr lang="en-IN"/>
          </a:p>
        </p:txBody>
      </p:sp>
      <p:sp>
        <p:nvSpPr>
          <p:cNvPr id="6" name="Footer Placeholder 5">
            <a:extLst>
              <a:ext uri="{FF2B5EF4-FFF2-40B4-BE49-F238E27FC236}">
                <a16:creationId xmlns:a16="http://schemas.microsoft.com/office/drawing/2014/main" id="{BB6BDBE7-EB71-426C-8E02-2F39733F7F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714907-13EA-4E79-8417-0EC5E502E486}"/>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3337483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C4529-7C3C-4D10-AD9C-86CB67D2B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2173FF7-1E37-47DA-BCCB-AFDD0F6F84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C43DAF-8DA8-48F8-B118-56B11692BF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DBE107-EEF1-4F60-8BFB-A0B8F32EFE52}"/>
              </a:ext>
            </a:extLst>
          </p:cNvPr>
          <p:cNvSpPr>
            <a:spLocks noGrp="1"/>
          </p:cNvSpPr>
          <p:nvPr>
            <p:ph type="dt" sz="half" idx="10"/>
          </p:nvPr>
        </p:nvSpPr>
        <p:spPr/>
        <p:txBody>
          <a:bodyPr/>
          <a:lstStyle/>
          <a:p>
            <a:fld id="{3717A1C5-95F7-4229-A93B-29F7FF3DA000}" type="datetimeFigureOut">
              <a:rPr lang="en-IN" smtClean="0"/>
              <a:pPr/>
              <a:t>24-08-2026</a:t>
            </a:fld>
            <a:endParaRPr lang="en-IN"/>
          </a:p>
        </p:txBody>
      </p:sp>
      <p:sp>
        <p:nvSpPr>
          <p:cNvPr id="6" name="Footer Placeholder 5">
            <a:extLst>
              <a:ext uri="{FF2B5EF4-FFF2-40B4-BE49-F238E27FC236}">
                <a16:creationId xmlns:a16="http://schemas.microsoft.com/office/drawing/2014/main" id="{3BB2FC9C-1AB4-400D-8A60-C7B3A80585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25E51E-1606-443F-8DDC-5BC7A3D910FC}"/>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805698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81B9E-9443-4F41-8CDB-8E6E4CF2707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37440A-C0A0-4620-8CB7-BC24F4E100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ECDE26-EE92-4514-B595-DD288D69BDDA}"/>
              </a:ext>
            </a:extLst>
          </p:cNvPr>
          <p:cNvSpPr>
            <a:spLocks noGrp="1"/>
          </p:cNvSpPr>
          <p:nvPr>
            <p:ph type="dt" sz="half" idx="10"/>
          </p:nvPr>
        </p:nvSpPr>
        <p:spPr/>
        <p:txBody>
          <a:bodyPr/>
          <a:lstStyle/>
          <a:p>
            <a:fld id="{3717A1C5-95F7-4229-A93B-29F7FF3DA000}" type="datetimeFigureOut">
              <a:rPr lang="en-IN" smtClean="0"/>
              <a:pPr/>
              <a:t>24-08-2026</a:t>
            </a:fld>
            <a:endParaRPr lang="en-IN"/>
          </a:p>
        </p:txBody>
      </p:sp>
      <p:sp>
        <p:nvSpPr>
          <p:cNvPr id="5" name="Footer Placeholder 4">
            <a:extLst>
              <a:ext uri="{FF2B5EF4-FFF2-40B4-BE49-F238E27FC236}">
                <a16:creationId xmlns:a16="http://schemas.microsoft.com/office/drawing/2014/main" id="{CAB18649-6317-4A86-BF87-6BCCFA208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9FA2ED-B0E3-48EA-BF01-F14C24A36C7D}"/>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876270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195C72-B502-4011-AB72-4BBC7CCE94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A45A48-60F9-47B3-9E1A-0E76EE6ED6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C2F640-11BE-4566-9603-D1D7F7E96FC4}"/>
              </a:ext>
            </a:extLst>
          </p:cNvPr>
          <p:cNvSpPr>
            <a:spLocks noGrp="1"/>
          </p:cNvSpPr>
          <p:nvPr>
            <p:ph type="dt" sz="half" idx="10"/>
          </p:nvPr>
        </p:nvSpPr>
        <p:spPr/>
        <p:txBody>
          <a:bodyPr/>
          <a:lstStyle/>
          <a:p>
            <a:fld id="{3717A1C5-95F7-4229-A93B-29F7FF3DA000}" type="datetimeFigureOut">
              <a:rPr lang="en-IN" smtClean="0"/>
              <a:pPr/>
              <a:t>24-08-2026</a:t>
            </a:fld>
            <a:endParaRPr lang="en-IN"/>
          </a:p>
        </p:txBody>
      </p:sp>
      <p:sp>
        <p:nvSpPr>
          <p:cNvPr id="5" name="Footer Placeholder 4">
            <a:extLst>
              <a:ext uri="{FF2B5EF4-FFF2-40B4-BE49-F238E27FC236}">
                <a16:creationId xmlns:a16="http://schemas.microsoft.com/office/drawing/2014/main" id="{BF45CB06-5043-4F88-9848-829BAD7A0D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693EAC-3ADD-4236-B7D3-0540B8D65BEC}"/>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910687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435DF9-745D-444C-9DD7-A6DD954688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A09DCF-D326-45B4-9E4E-070E325317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80EC5D-D4D0-42B9-9170-212F1B335C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17A1C5-95F7-4229-A93B-29F7FF3DA000}" type="datetimeFigureOut">
              <a:rPr lang="en-IN" smtClean="0"/>
              <a:pPr/>
              <a:t>24-08-2026</a:t>
            </a:fld>
            <a:endParaRPr lang="en-IN"/>
          </a:p>
        </p:txBody>
      </p:sp>
      <p:sp>
        <p:nvSpPr>
          <p:cNvPr id="5" name="Footer Placeholder 4">
            <a:extLst>
              <a:ext uri="{FF2B5EF4-FFF2-40B4-BE49-F238E27FC236}">
                <a16:creationId xmlns:a16="http://schemas.microsoft.com/office/drawing/2014/main" id="{D77E3022-2659-46A1-A7BE-9894421E21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6EAFC63-250A-46C7-8FC2-85F3F3181D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7729C9-FBBD-4916-93BC-8B48DFD0D00A}" type="slidenum">
              <a:rPr lang="en-IN" smtClean="0"/>
              <a:pPr/>
              <a:t>‹#›</a:t>
            </a:fld>
            <a:endParaRPr lang="en-IN"/>
          </a:p>
        </p:txBody>
      </p:sp>
    </p:spTree>
    <p:extLst>
      <p:ext uri="{BB962C8B-B14F-4D97-AF65-F5344CB8AC3E}">
        <p14:creationId xmlns:p14="http://schemas.microsoft.com/office/powerpoint/2010/main" val="29214269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hyperlink" Target="https://www.youtube.com/watch?v=B3U1NDUiwSA&amp;t=145s" TargetMode="Externa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8.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7.png"/><Relationship Id="rId5" Type="http://schemas.openxmlformats.org/officeDocument/2006/relationships/image" Target="../media/image3.gif"/><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0.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9.png"/><Relationship Id="rId5" Type="http://schemas.openxmlformats.org/officeDocument/2006/relationships/image" Target="../media/image3.gif"/><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hyperlink" Target="https://www.youtube.com/watch?v=nlyu68u0zEs" TargetMode="External"/><Relationship Id="rId5" Type="http://schemas.openxmlformats.org/officeDocument/2006/relationships/hyperlink" Target="https://www.youtube.com/watch?v=MJXlXFRQfGI" TargetMode="External"/><Relationship Id="rId4" Type="http://schemas.openxmlformats.org/officeDocument/2006/relationships/image" Target="../media/image33.jpeg"/></Relationships>
</file>

<file path=ppt/slides/_rels/slide3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hyperlink" Target="https://www.youtube.com/watch?v=wC3KWHV_hiY&amp;t=1s" TargetMode="Externa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gif"/><Relationship Id="rId4" Type="http://schemas.openxmlformats.org/officeDocument/2006/relationships/image" Target="../media/image36.jpg"/></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DFE3490-CF8C-4FDE-9D71-2170861F2A61}"/>
              </a:ext>
            </a:extLst>
          </p:cNvPr>
          <p:cNvSpPr/>
          <p:nvPr/>
        </p:nvSpPr>
        <p:spPr>
          <a:xfrm>
            <a:off x="4685111" y="2813812"/>
            <a:ext cx="5580185" cy="1200329"/>
          </a:xfrm>
          <a:prstGeom prst="rect">
            <a:avLst/>
          </a:prstGeom>
        </p:spPr>
        <p:txBody>
          <a:bodyPr wrap="square">
            <a:spAutoFit/>
          </a:bodyPr>
          <a:lstStyle/>
          <a:p>
            <a:r>
              <a:rPr lang="en-US" sz="3600" b="1" dirty="0">
                <a:solidFill>
                  <a:schemeClr val="accent2">
                    <a:lumMod val="75000"/>
                  </a:schemeClr>
                </a:solidFill>
              </a:rPr>
              <a:t>Quantum Entanglement and Quantum Computing</a:t>
            </a:r>
          </a:p>
        </p:txBody>
      </p:sp>
      <p:sp>
        <p:nvSpPr>
          <p:cNvPr id="14" name="Rectangle 13">
            <a:extLst>
              <a:ext uri="{FF2B5EF4-FFF2-40B4-BE49-F238E27FC236}">
                <a16:creationId xmlns:a16="http://schemas.microsoft.com/office/drawing/2014/main" id="{585D8B7B-5B60-4808-A096-FB24198F96E9}"/>
              </a:ext>
            </a:extLst>
          </p:cNvPr>
          <p:cNvSpPr/>
          <p:nvPr/>
        </p:nvSpPr>
        <p:spPr>
          <a:xfrm>
            <a:off x="4781916" y="4415503"/>
            <a:ext cx="7000781" cy="461665"/>
          </a:xfrm>
          <a:prstGeom prst="rect">
            <a:avLst/>
          </a:prstGeom>
        </p:spPr>
        <p:txBody>
          <a:bodyPr wrap="square">
            <a:spAutoFit/>
          </a:bodyPr>
          <a:lstStyle/>
          <a:p>
            <a:r>
              <a:rPr lang="en-US" sz="2400" b="1" dirty="0"/>
              <a:t>Dr. Kaustav Bhowmick</a:t>
            </a:r>
            <a:endParaRPr lang="en-IN" sz="2400" b="1" dirty="0"/>
          </a:p>
        </p:txBody>
      </p:sp>
      <p:sp>
        <p:nvSpPr>
          <p:cNvPr id="15" name="Rectangle 14">
            <a:extLst>
              <a:ext uri="{FF2B5EF4-FFF2-40B4-BE49-F238E27FC236}">
                <a16:creationId xmlns:a16="http://schemas.microsoft.com/office/drawing/2014/main" id="{743662B4-0C28-4203-AEB1-4CC1644B8226}"/>
              </a:ext>
            </a:extLst>
          </p:cNvPr>
          <p:cNvSpPr/>
          <p:nvPr/>
        </p:nvSpPr>
        <p:spPr>
          <a:xfrm>
            <a:off x="4781916" y="4813108"/>
            <a:ext cx="4037691" cy="830997"/>
          </a:xfrm>
          <a:prstGeom prst="rect">
            <a:avLst/>
          </a:prstGeom>
        </p:spPr>
        <p:txBody>
          <a:bodyPr wrap="square">
            <a:spAutoFit/>
          </a:bodyPr>
          <a:lstStyle/>
          <a:p>
            <a:r>
              <a:rPr lang="en-US" sz="2400" dirty="0"/>
              <a:t>Electronics &amp; Communication </a:t>
            </a:r>
          </a:p>
          <a:p>
            <a:r>
              <a:rPr lang="en-US" sz="2400" dirty="0"/>
              <a:t>Engineering</a:t>
            </a:r>
            <a:endParaRPr lang="en-IN" sz="2400" dirty="0"/>
          </a:p>
        </p:txBody>
      </p:sp>
      <p:grpSp>
        <p:nvGrpSpPr>
          <p:cNvPr id="20" name="Group 19">
            <a:extLst>
              <a:ext uri="{FF2B5EF4-FFF2-40B4-BE49-F238E27FC236}">
                <a16:creationId xmlns:a16="http://schemas.microsoft.com/office/drawing/2014/main" id="{87008925-27BE-4F37-8F3C-D51A4CE1017D}"/>
              </a:ext>
            </a:extLst>
          </p:cNvPr>
          <p:cNvGrpSpPr/>
          <p:nvPr/>
        </p:nvGrpSpPr>
        <p:grpSpPr>
          <a:xfrm>
            <a:off x="313844" y="5489699"/>
            <a:ext cx="1066895" cy="1078155"/>
            <a:chOff x="313844" y="5489699"/>
            <a:chExt cx="1066895" cy="1078155"/>
          </a:xfrm>
          <a:solidFill>
            <a:schemeClr val="accent2">
              <a:lumMod val="75000"/>
            </a:schemeClr>
          </a:solidFill>
        </p:grpSpPr>
        <p:sp>
          <p:nvSpPr>
            <p:cNvPr id="24" name="Rectangle 23">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1" name="Straight Connector 10">
            <a:extLst>
              <a:ext uri="{FF2B5EF4-FFF2-40B4-BE49-F238E27FC236}">
                <a16:creationId xmlns:a16="http://schemas.microsoft.com/office/drawing/2014/main" id="{1EEB87D2-BD33-43D4-B135-6F0E91C4917A}"/>
              </a:ext>
            </a:extLst>
          </p:cNvPr>
          <p:cNvCxnSpPr>
            <a:cxnSpLocks/>
          </p:cNvCxnSpPr>
          <p:nvPr/>
        </p:nvCxnSpPr>
        <p:spPr>
          <a:xfrm flipV="1">
            <a:off x="4781916" y="4112436"/>
            <a:ext cx="4581449" cy="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Picture 11" descr="A close up of a logo&#10;&#10;Description automatically generated">
            <a:extLst>
              <a:ext uri="{FF2B5EF4-FFF2-40B4-BE49-F238E27FC236}">
                <a16:creationId xmlns:a16="http://schemas.microsoft.com/office/drawing/2014/main" id="{66C7B340-EC4A-4D32-8643-325F1D66DF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26704" y="1653906"/>
            <a:ext cx="2369218" cy="3550188"/>
          </a:xfrm>
          <a:prstGeom prst="rect">
            <a:avLst/>
          </a:prstGeom>
        </p:spPr>
      </p:pic>
      <p:grpSp>
        <p:nvGrpSpPr>
          <p:cNvPr id="16" name="Group 15">
            <a:extLst>
              <a:ext uri="{FF2B5EF4-FFF2-40B4-BE49-F238E27FC236}">
                <a16:creationId xmlns:a16="http://schemas.microsoft.com/office/drawing/2014/main" id="{87008925-27BE-4F37-8F3C-D51A4CE1017D}"/>
              </a:ext>
            </a:extLst>
          </p:cNvPr>
          <p:cNvGrpSpPr/>
          <p:nvPr/>
        </p:nvGrpSpPr>
        <p:grpSpPr>
          <a:xfrm rot="10800000">
            <a:off x="10855702" y="266068"/>
            <a:ext cx="1066895" cy="1078155"/>
            <a:chOff x="313844" y="5489699"/>
            <a:chExt cx="1066895" cy="1078155"/>
          </a:xfrm>
          <a:solidFill>
            <a:schemeClr val="accent2">
              <a:lumMod val="75000"/>
            </a:schemeClr>
          </a:solidFill>
        </p:grpSpPr>
        <p:sp>
          <p:nvSpPr>
            <p:cNvPr id="17" name="Rectangle 16">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300290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DFE3490-CF8C-4FDE-9D71-2170861F2A61}"/>
              </a:ext>
            </a:extLst>
          </p:cNvPr>
          <p:cNvSpPr/>
          <p:nvPr/>
        </p:nvSpPr>
        <p:spPr>
          <a:xfrm>
            <a:off x="313843" y="1311319"/>
            <a:ext cx="7782254" cy="1200329"/>
          </a:xfrm>
          <a:prstGeom prst="rect">
            <a:avLst/>
          </a:prstGeom>
        </p:spPr>
        <p:txBody>
          <a:bodyPr wrap="square">
            <a:spAutoFit/>
          </a:bodyPr>
          <a:lstStyle/>
          <a:p>
            <a:r>
              <a:rPr lang="en-US" sz="3600" b="1" cap="all" dirty="0"/>
              <a:t>Quantum Entanglement and Quantum Computing</a:t>
            </a:r>
          </a:p>
        </p:txBody>
      </p:sp>
      <p:sp>
        <p:nvSpPr>
          <p:cNvPr id="13" name="Rectangle 12">
            <a:extLst>
              <a:ext uri="{FF2B5EF4-FFF2-40B4-BE49-F238E27FC236}">
                <a16:creationId xmlns:a16="http://schemas.microsoft.com/office/drawing/2014/main" id="{34CEFAD4-E477-4E46-B5A6-ADB26E6A2863}"/>
              </a:ext>
            </a:extLst>
          </p:cNvPr>
          <p:cNvSpPr/>
          <p:nvPr/>
        </p:nvSpPr>
        <p:spPr>
          <a:xfrm>
            <a:off x="598883" y="2888778"/>
            <a:ext cx="7497214" cy="646331"/>
          </a:xfrm>
          <a:prstGeom prst="rect">
            <a:avLst/>
          </a:prstGeom>
        </p:spPr>
        <p:txBody>
          <a:bodyPr wrap="square">
            <a:spAutoFit/>
          </a:bodyPr>
          <a:lstStyle/>
          <a:p>
            <a:r>
              <a:rPr lang="en-US" sz="3600" b="1" dirty="0">
                <a:solidFill>
                  <a:schemeClr val="accent1">
                    <a:lumMod val="75000"/>
                  </a:schemeClr>
                </a:solidFill>
              </a:rPr>
              <a:t>Introduction to Topic</a:t>
            </a:r>
            <a:endParaRPr lang="en-IN" sz="3600" b="1" dirty="0">
              <a:solidFill>
                <a:schemeClr val="accent1">
                  <a:lumMod val="75000"/>
                </a:schemeClr>
              </a:solidFill>
            </a:endParaRPr>
          </a:p>
        </p:txBody>
      </p:sp>
      <p:sp>
        <p:nvSpPr>
          <p:cNvPr id="14" name="Rectangle 13">
            <a:extLst>
              <a:ext uri="{FF2B5EF4-FFF2-40B4-BE49-F238E27FC236}">
                <a16:creationId xmlns:a16="http://schemas.microsoft.com/office/drawing/2014/main" id="{585D8B7B-5B60-4808-A096-FB24198F96E9}"/>
              </a:ext>
            </a:extLst>
          </p:cNvPr>
          <p:cNvSpPr/>
          <p:nvPr/>
        </p:nvSpPr>
        <p:spPr>
          <a:xfrm>
            <a:off x="598883" y="5316267"/>
            <a:ext cx="7497214" cy="461665"/>
          </a:xfrm>
          <a:prstGeom prst="rect">
            <a:avLst/>
          </a:prstGeom>
        </p:spPr>
        <p:txBody>
          <a:bodyPr wrap="square">
            <a:spAutoFit/>
          </a:bodyPr>
          <a:lstStyle/>
          <a:p>
            <a:r>
              <a:rPr lang="en-US" sz="2400" b="1" dirty="0"/>
              <a:t>Dr. Kaustav Bhowmick</a:t>
            </a:r>
            <a:endParaRPr lang="en-IN" sz="2400" b="1" dirty="0"/>
          </a:p>
        </p:txBody>
      </p:sp>
      <p:sp>
        <p:nvSpPr>
          <p:cNvPr id="15" name="Rectangle 14">
            <a:extLst>
              <a:ext uri="{FF2B5EF4-FFF2-40B4-BE49-F238E27FC236}">
                <a16:creationId xmlns:a16="http://schemas.microsoft.com/office/drawing/2014/main" id="{743662B4-0C28-4203-AEB1-4CC1644B8226}"/>
              </a:ext>
            </a:extLst>
          </p:cNvPr>
          <p:cNvSpPr/>
          <p:nvPr/>
        </p:nvSpPr>
        <p:spPr>
          <a:xfrm>
            <a:off x="598883" y="5669412"/>
            <a:ext cx="7497214" cy="400110"/>
          </a:xfrm>
          <a:prstGeom prst="rect">
            <a:avLst/>
          </a:prstGeom>
        </p:spPr>
        <p:txBody>
          <a:bodyPr wrap="square">
            <a:spAutoFit/>
          </a:bodyPr>
          <a:lstStyle/>
          <a:p>
            <a:r>
              <a:rPr lang="en-US" sz="2000" dirty="0"/>
              <a:t>Electronics &amp; Communication Engineering</a:t>
            </a:r>
            <a:endParaRPr lang="en-IN" sz="2000" dirty="0"/>
          </a:p>
        </p:txBody>
      </p:sp>
      <p:grpSp>
        <p:nvGrpSpPr>
          <p:cNvPr id="20" name="Group 19">
            <a:extLst>
              <a:ext uri="{FF2B5EF4-FFF2-40B4-BE49-F238E27FC236}">
                <a16:creationId xmlns:a16="http://schemas.microsoft.com/office/drawing/2014/main" id="{87008925-27BE-4F37-8F3C-D51A4CE1017D}"/>
              </a:ext>
            </a:extLst>
          </p:cNvPr>
          <p:cNvGrpSpPr/>
          <p:nvPr/>
        </p:nvGrpSpPr>
        <p:grpSpPr>
          <a:xfrm>
            <a:off x="313844" y="5489699"/>
            <a:ext cx="1066895" cy="1078155"/>
            <a:chOff x="313844" y="5489699"/>
            <a:chExt cx="1066895" cy="1078155"/>
          </a:xfrm>
          <a:solidFill>
            <a:schemeClr val="accent2">
              <a:lumMod val="60000"/>
              <a:lumOff val="40000"/>
            </a:schemeClr>
          </a:solidFill>
        </p:grpSpPr>
        <p:sp>
          <p:nvSpPr>
            <p:cNvPr id="24" name="Rectangle 23">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6" name="Straight Connector 15">
            <a:extLst>
              <a:ext uri="{FF2B5EF4-FFF2-40B4-BE49-F238E27FC236}">
                <a16:creationId xmlns:a16="http://schemas.microsoft.com/office/drawing/2014/main" id="{DD6B6443-C2DA-47C3-A986-5EE935046CC9}"/>
              </a:ext>
            </a:extLst>
          </p:cNvPr>
          <p:cNvCxnSpPr>
            <a:cxnSpLocks/>
          </p:cNvCxnSpPr>
          <p:nvPr/>
        </p:nvCxnSpPr>
        <p:spPr>
          <a:xfrm flipV="1">
            <a:off x="0" y="2596822"/>
            <a:ext cx="7904054" cy="68537"/>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pic>
        <p:nvPicPr>
          <p:cNvPr id="4" name="Picture 3" descr="A close up of a logo&#10;&#10;Description automatically generated">
            <a:extLst>
              <a:ext uri="{FF2B5EF4-FFF2-40B4-BE49-F238E27FC236}">
                <a16:creationId xmlns:a16="http://schemas.microsoft.com/office/drawing/2014/main" id="{6727F4C1-5802-414C-BEF9-8F8DC7D7B6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7" name="TextBox 16">
            <a:extLst>
              <a:ext uri="{FF2B5EF4-FFF2-40B4-BE49-F238E27FC236}">
                <a16:creationId xmlns:a16="http://schemas.microsoft.com/office/drawing/2014/main" id="{54905CC0-9088-4B13-B9F7-4D85FD808B63}"/>
              </a:ext>
            </a:extLst>
          </p:cNvPr>
          <p:cNvSpPr txBox="1"/>
          <p:nvPr/>
        </p:nvSpPr>
        <p:spPr>
          <a:xfrm>
            <a:off x="598883" y="6114890"/>
            <a:ext cx="2477513" cy="307777"/>
          </a:xfrm>
          <a:prstGeom prst="rect">
            <a:avLst/>
          </a:prstGeom>
          <a:noFill/>
        </p:spPr>
        <p:txBody>
          <a:bodyPr wrap="square" rtlCol="0">
            <a:spAutoFit/>
          </a:bodyPr>
          <a:lstStyle/>
          <a:p>
            <a:r>
              <a:rPr lang="en-IN" sz="1400" dirty="0">
                <a:solidFill>
                  <a:srgbClr val="7030A0"/>
                </a:solidFill>
              </a:rPr>
              <a:t>Source: Google images</a:t>
            </a:r>
          </a:p>
        </p:txBody>
      </p:sp>
      <p:pic>
        <p:nvPicPr>
          <p:cNvPr id="2" name="Picture 1">
            <a:extLst>
              <a:ext uri="{FF2B5EF4-FFF2-40B4-BE49-F238E27FC236}">
                <a16:creationId xmlns:a16="http://schemas.microsoft.com/office/drawing/2014/main" id="{79D7333F-4816-037D-79E5-447EF625AB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spTree>
    <p:extLst>
      <p:ext uri="{BB962C8B-B14F-4D97-AF65-F5344CB8AC3E}">
        <p14:creationId xmlns:p14="http://schemas.microsoft.com/office/powerpoint/2010/main" val="1821512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598883" y="703011"/>
            <a:ext cx="7999758" cy="461665"/>
          </a:xfrm>
          <a:prstGeom prst="rect">
            <a:avLst/>
          </a:prstGeom>
        </p:spPr>
        <p:txBody>
          <a:bodyPr wrap="square">
            <a:spAutoFit/>
          </a:bodyPr>
          <a:lstStyle/>
          <a:p>
            <a:r>
              <a:rPr lang="en-US" sz="2400" b="1" dirty="0">
                <a:solidFill>
                  <a:schemeClr val="accent2">
                    <a:lumMod val="75000"/>
                  </a:schemeClr>
                </a:solidFill>
              </a:rPr>
              <a:t>Contents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sp>
        <p:nvSpPr>
          <p:cNvPr id="11" name="TextBox 10">
            <a:extLst>
              <a:ext uri="{FF2B5EF4-FFF2-40B4-BE49-F238E27FC236}">
                <a16:creationId xmlns:a16="http://schemas.microsoft.com/office/drawing/2014/main" id="{B4584E91-07CE-45DA-AEFF-0919976D5269}"/>
              </a:ext>
            </a:extLst>
          </p:cNvPr>
          <p:cNvSpPr txBox="1"/>
          <p:nvPr/>
        </p:nvSpPr>
        <p:spPr>
          <a:xfrm>
            <a:off x="617737" y="6124317"/>
            <a:ext cx="7855703" cy="307777"/>
          </a:xfrm>
          <a:prstGeom prst="rect">
            <a:avLst/>
          </a:prstGeom>
          <a:noFill/>
        </p:spPr>
        <p:txBody>
          <a:bodyPr wrap="square" rtlCol="0">
            <a:spAutoFit/>
          </a:bodyPr>
          <a:lstStyle/>
          <a:p>
            <a:r>
              <a:rPr lang="en-IN" sz="1400" dirty="0">
                <a:solidFill>
                  <a:srgbClr val="7030A0"/>
                </a:solidFill>
              </a:rPr>
              <a:t>Source: Google images</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sp>
        <p:nvSpPr>
          <p:cNvPr id="3" name="TextBox 2">
            <a:extLst>
              <a:ext uri="{FF2B5EF4-FFF2-40B4-BE49-F238E27FC236}">
                <a16:creationId xmlns:a16="http://schemas.microsoft.com/office/drawing/2014/main" id="{5D148C88-3676-DBDB-0D6B-5C1AEB0D5EF6}"/>
              </a:ext>
            </a:extLst>
          </p:cNvPr>
          <p:cNvSpPr txBox="1"/>
          <p:nvPr/>
        </p:nvSpPr>
        <p:spPr>
          <a:xfrm>
            <a:off x="737117" y="1613171"/>
            <a:ext cx="7389845" cy="3108543"/>
          </a:xfrm>
          <a:prstGeom prst="rect">
            <a:avLst/>
          </a:prstGeom>
          <a:noFill/>
        </p:spPr>
        <p:txBody>
          <a:bodyPr wrap="square">
            <a:spAutoFit/>
          </a:bodyPr>
          <a:lstStyle/>
          <a:p>
            <a:pPr>
              <a:spcBef>
                <a:spcPct val="50000"/>
              </a:spcBef>
              <a:buClr>
                <a:schemeClr val="accent2"/>
              </a:buClr>
              <a:buFont typeface="Wingdings" panose="05000000000000000000" pitchFamily="2" charset="2"/>
              <a:buChar char="§"/>
            </a:pPr>
            <a:r>
              <a:rPr lang="en-US" altLang="en-US" sz="2800" dirty="0"/>
              <a:t>Introduction and History</a:t>
            </a:r>
          </a:p>
          <a:p>
            <a:pPr>
              <a:spcBef>
                <a:spcPct val="50000"/>
              </a:spcBef>
              <a:buClr>
                <a:schemeClr val="accent2"/>
              </a:buClr>
              <a:buFont typeface="Wingdings" panose="05000000000000000000" pitchFamily="2" charset="2"/>
              <a:buChar char="§"/>
            </a:pPr>
            <a:r>
              <a:rPr lang="en-US" altLang="en-US" sz="2800" dirty="0"/>
              <a:t> Data Representation </a:t>
            </a:r>
          </a:p>
          <a:p>
            <a:pPr>
              <a:spcBef>
                <a:spcPct val="50000"/>
              </a:spcBef>
              <a:buClr>
                <a:schemeClr val="accent2"/>
              </a:buClr>
              <a:buFont typeface="Wingdings" panose="05000000000000000000" pitchFamily="2" charset="2"/>
              <a:buChar char="§"/>
            </a:pPr>
            <a:r>
              <a:rPr lang="en-US" altLang="en-US" sz="2800" dirty="0"/>
              <a:t> Operations on Data</a:t>
            </a:r>
          </a:p>
          <a:p>
            <a:pPr>
              <a:spcBef>
                <a:spcPct val="50000"/>
              </a:spcBef>
              <a:buClr>
                <a:schemeClr val="accent2"/>
              </a:buClr>
              <a:buFont typeface="Wingdings" panose="05000000000000000000" pitchFamily="2" charset="2"/>
              <a:buChar char="§"/>
            </a:pPr>
            <a:r>
              <a:rPr lang="en-US" altLang="en-US" sz="2800" dirty="0"/>
              <a:t> Shor’s Algorithm</a:t>
            </a:r>
          </a:p>
          <a:p>
            <a:pPr>
              <a:spcBef>
                <a:spcPct val="50000"/>
              </a:spcBef>
              <a:buClr>
                <a:schemeClr val="accent2"/>
              </a:buClr>
              <a:buFont typeface="Wingdings" panose="05000000000000000000" pitchFamily="2" charset="2"/>
              <a:buChar char="§"/>
            </a:pPr>
            <a:r>
              <a:rPr lang="en-US" altLang="en-US" sz="2800" dirty="0"/>
              <a:t> Conclusion and Open Questions</a:t>
            </a:r>
          </a:p>
        </p:txBody>
      </p:sp>
    </p:spTree>
    <p:extLst>
      <p:ext uri="{BB962C8B-B14F-4D97-AF65-F5344CB8AC3E}">
        <p14:creationId xmlns:p14="http://schemas.microsoft.com/office/powerpoint/2010/main" val="3633279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Introduction</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sp>
        <p:nvSpPr>
          <p:cNvPr id="11" name="TextBox 10">
            <a:extLst>
              <a:ext uri="{FF2B5EF4-FFF2-40B4-BE49-F238E27FC236}">
                <a16:creationId xmlns:a16="http://schemas.microsoft.com/office/drawing/2014/main" id="{B4584E91-07CE-45DA-AEFF-0919976D5269}"/>
              </a:ext>
            </a:extLst>
          </p:cNvPr>
          <p:cNvSpPr txBox="1"/>
          <p:nvPr/>
        </p:nvSpPr>
        <p:spPr>
          <a:xfrm>
            <a:off x="617737" y="6124317"/>
            <a:ext cx="7855703" cy="307777"/>
          </a:xfrm>
          <a:prstGeom prst="rect">
            <a:avLst/>
          </a:prstGeom>
          <a:noFill/>
        </p:spPr>
        <p:txBody>
          <a:bodyPr wrap="square" rtlCol="0">
            <a:spAutoFit/>
          </a:bodyPr>
          <a:lstStyle/>
          <a:p>
            <a:r>
              <a:rPr lang="en-IN" sz="1400" dirty="0">
                <a:solidFill>
                  <a:srgbClr val="7030A0"/>
                </a:solidFill>
              </a:rPr>
              <a:t>Source: Google images</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A3DEF53D-ED95-8180-566C-7857B0D84A7D}"/>
              </a:ext>
            </a:extLst>
          </p:cNvPr>
          <p:cNvPicPr>
            <a:picLocks noChangeAspect="1"/>
          </p:cNvPicPr>
          <p:nvPr/>
        </p:nvPicPr>
        <p:blipFill>
          <a:blip r:embed="rId4"/>
          <a:stretch>
            <a:fillRect/>
          </a:stretch>
        </p:blipFill>
        <p:spPr>
          <a:xfrm>
            <a:off x="371880" y="1390237"/>
            <a:ext cx="7497214" cy="5294159"/>
          </a:xfrm>
          <a:prstGeom prst="rect">
            <a:avLst/>
          </a:prstGeom>
        </p:spPr>
      </p:pic>
    </p:spTree>
    <p:extLst>
      <p:ext uri="{BB962C8B-B14F-4D97-AF65-F5344CB8AC3E}">
        <p14:creationId xmlns:p14="http://schemas.microsoft.com/office/powerpoint/2010/main" val="1443245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Data Representation</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69098A94-EF25-15F8-1C42-1DA7609C4434}"/>
              </a:ext>
            </a:extLst>
          </p:cNvPr>
          <p:cNvPicPr>
            <a:picLocks noChangeAspect="1"/>
          </p:cNvPicPr>
          <p:nvPr/>
        </p:nvPicPr>
        <p:blipFill>
          <a:blip r:embed="rId4"/>
          <a:stretch>
            <a:fillRect/>
          </a:stretch>
        </p:blipFill>
        <p:spPr>
          <a:xfrm>
            <a:off x="577375" y="1519354"/>
            <a:ext cx="6622354" cy="4983912"/>
          </a:xfrm>
          <a:prstGeom prst="rect">
            <a:avLst/>
          </a:prstGeom>
        </p:spPr>
      </p:pic>
      <p:sp>
        <p:nvSpPr>
          <p:cNvPr id="4" name="TextBox 3">
            <a:extLst>
              <a:ext uri="{FF2B5EF4-FFF2-40B4-BE49-F238E27FC236}">
                <a16:creationId xmlns:a16="http://schemas.microsoft.com/office/drawing/2014/main" id="{FD3CB49C-73F4-5038-6213-F05BB6F0DAE0}"/>
              </a:ext>
            </a:extLst>
          </p:cNvPr>
          <p:cNvSpPr txBox="1"/>
          <p:nvPr/>
        </p:nvSpPr>
        <p:spPr>
          <a:xfrm>
            <a:off x="4559037" y="4131840"/>
            <a:ext cx="6100482" cy="646331"/>
          </a:xfrm>
          <a:prstGeom prst="rect">
            <a:avLst/>
          </a:prstGeom>
          <a:noFill/>
        </p:spPr>
        <p:txBody>
          <a:bodyPr wrap="square">
            <a:spAutoFit/>
          </a:bodyPr>
          <a:lstStyle/>
          <a:p>
            <a:r>
              <a:rPr lang="en-US" dirty="0">
                <a:hlinkClick r:id="rId5"/>
              </a:rPr>
              <a:t>https://www.youtube.com/watch?v=B3U1NDUiwSA&amp;t=145s</a:t>
            </a:r>
            <a:endParaRPr lang="en-US" dirty="0"/>
          </a:p>
          <a:p>
            <a:endParaRPr lang="en-US" dirty="0"/>
          </a:p>
        </p:txBody>
      </p:sp>
    </p:spTree>
    <p:extLst>
      <p:ext uri="{BB962C8B-B14F-4D97-AF65-F5344CB8AC3E}">
        <p14:creationId xmlns:p14="http://schemas.microsoft.com/office/powerpoint/2010/main" val="726412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Data Representation</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DF01ECF9-706B-1CE5-3032-DD02558D499A}"/>
              </a:ext>
            </a:extLst>
          </p:cNvPr>
          <p:cNvPicPr>
            <a:picLocks noChangeAspect="1"/>
          </p:cNvPicPr>
          <p:nvPr/>
        </p:nvPicPr>
        <p:blipFill>
          <a:blip r:embed="rId4"/>
          <a:stretch>
            <a:fillRect/>
          </a:stretch>
        </p:blipFill>
        <p:spPr>
          <a:xfrm>
            <a:off x="486072" y="1466051"/>
            <a:ext cx="7383022" cy="5308948"/>
          </a:xfrm>
          <a:prstGeom prst="rect">
            <a:avLst/>
          </a:prstGeom>
        </p:spPr>
      </p:pic>
    </p:spTree>
    <p:extLst>
      <p:ext uri="{BB962C8B-B14F-4D97-AF65-F5344CB8AC3E}">
        <p14:creationId xmlns:p14="http://schemas.microsoft.com/office/powerpoint/2010/main" val="2619057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Data Representation</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106C9681-088D-CECD-9564-0125AB91883C}"/>
              </a:ext>
            </a:extLst>
          </p:cNvPr>
          <p:cNvPicPr>
            <a:picLocks noChangeAspect="1"/>
          </p:cNvPicPr>
          <p:nvPr/>
        </p:nvPicPr>
        <p:blipFill>
          <a:blip r:embed="rId4"/>
          <a:stretch>
            <a:fillRect/>
          </a:stretch>
        </p:blipFill>
        <p:spPr>
          <a:xfrm>
            <a:off x="928124" y="1458431"/>
            <a:ext cx="6940969" cy="5273443"/>
          </a:xfrm>
          <a:prstGeom prst="rect">
            <a:avLst/>
          </a:prstGeom>
        </p:spPr>
      </p:pic>
    </p:spTree>
    <p:extLst>
      <p:ext uri="{BB962C8B-B14F-4D97-AF65-F5344CB8AC3E}">
        <p14:creationId xmlns:p14="http://schemas.microsoft.com/office/powerpoint/2010/main" val="1317561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Data Representation</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AF4C6696-98C5-7E41-AC56-88B975A9399B}"/>
              </a:ext>
            </a:extLst>
          </p:cNvPr>
          <p:cNvPicPr>
            <a:picLocks noChangeAspect="1"/>
          </p:cNvPicPr>
          <p:nvPr/>
        </p:nvPicPr>
        <p:blipFill>
          <a:blip r:embed="rId4"/>
          <a:stretch>
            <a:fillRect/>
          </a:stretch>
        </p:blipFill>
        <p:spPr>
          <a:xfrm>
            <a:off x="577375" y="1417106"/>
            <a:ext cx="6989752" cy="5291308"/>
          </a:xfrm>
          <a:prstGeom prst="rect">
            <a:avLst/>
          </a:prstGeom>
        </p:spPr>
      </p:pic>
    </p:spTree>
    <p:extLst>
      <p:ext uri="{BB962C8B-B14F-4D97-AF65-F5344CB8AC3E}">
        <p14:creationId xmlns:p14="http://schemas.microsoft.com/office/powerpoint/2010/main" val="3100932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Data Representation</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85439FCA-AE9A-B3F0-F4C8-91DFEAF2C627}"/>
              </a:ext>
            </a:extLst>
          </p:cNvPr>
          <p:cNvPicPr>
            <a:picLocks noChangeAspect="1"/>
          </p:cNvPicPr>
          <p:nvPr/>
        </p:nvPicPr>
        <p:blipFill>
          <a:blip r:embed="rId4"/>
          <a:stretch>
            <a:fillRect/>
          </a:stretch>
        </p:blipFill>
        <p:spPr>
          <a:xfrm>
            <a:off x="754411" y="1679371"/>
            <a:ext cx="7311347" cy="3629746"/>
          </a:xfrm>
          <a:prstGeom prst="rect">
            <a:avLst/>
          </a:prstGeom>
        </p:spPr>
      </p:pic>
    </p:spTree>
    <p:extLst>
      <p:ext uri="{BB962C8B-B14F-4D97-AF65-F5344CB8AC3E}">
        <p14:creationId xmlns:p14="http://schemas.microsoft.com/office/powerpoint/2010/main" val="3062449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Operations on Data</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B811373C-8852-4460-C480-C45F4B80D9C1}"/>
              </a:ext>
            </a:extLst>
          </p:cNvPr>
          <p:cNvPicPr>
            <a:picLocks noChangeAspect="1"/>
          </p:cNvPicPr>
          <p:nvPr/>
        </p:nvPicPr>
        <p:blipFill>
          <a:blip r:embed="rId4"/>
          <a:stretch>
            <a:fillRect/>
          </a:stretch>
        </p:blipFill>
        <p:spPr>
          <a:xfrm>
            <a:off x="858086" y="1591358"/>
            <a:ext cx="7011008" cy="4869602"/>
          </a:xfrm>
          <a:prstGeom prst="rect">
            <a:avLst/>
          </a:prstGeom>
        </p:spPr>
      </p:pic>
    </p:spTree>
    <p:extLst>
      <p:ext uri="{BB962C8B-B14F-4D97-AF65-F5344CB8AC3E}">
        <p14:creationId xmlns:p14="http://schemas.microsoft.com/office/powerpoint/2010/main" val="1474466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Operations on Data</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370A9365-D519-428C-4EA4-CE2547186B4E}"/>
              </a:ext>
            </a:extLst>
          </p:cNvPr>
          <p:cNvPicPr>
            <a:picLocks noChangeAspect="1"/>
          </p:cNvPicPr>
          <p:nvPr/>
        </p:nvPicPr>
        <p:blipFill>
          <a:blip r:embed="rId4"/>
          <a:stretch>
            <a:fillRect/>
          </a:stretch>
        </p:blipFill>
        <p:spPr>
          <a:xfrm>
            <a:off x="948012" y="1674093"/>
            <a:ext cx="6675698" cy="2987299"/>
          </a:xfrm>
          <a:prstGeom prst="rect">
            <a:avLst/>
          </a:prstGeom>
        </p:spPr>
      </p:pic>
    </p:spTree>
    <p:extLst>
      <p:ext uri="{BB962C8B-B14F-4D97-AF65-F5344CB8AC3E}">
        <p14:creationId xmlns:p14="http://schemas.microsoft.com/office/powerpoint/2010/main" val="1452447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Operations on Data</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4" name="Picture 3">
            <a:extLst>
              <a:ext uri="{FF2B5EF4-FFF2-40B4-BE49-F238E27FC236}">
                <a16:creationId xmlns:a16="http://schemas.microsoft.com/office/drawing/2014/main" id="{C7DC15E6-687F-1BEB-53F3-7356171EB421}"/>
              </a:ext>
            </a:extLst>
          </p:cNvPr>
          <p:cNvPicPr>
            <a:picLocks noChangeAspect="1"/>
          </p:cNvPicPr>
          <p:nvPr/>
        </p:nvPicPr>
        <p:blipFill>
          <a:blip r:embed="rId4"/>
          <a:stretch>
            <a:fillRect/>
          </a:stretch>
        </p:blipFill>
        <p:spPr>
          <a:xfrm>
            <a:off x="1488141" y="1592228"/>
            <a:ext cx="6161886" cy="4415684"/>
          </a:xfrm>
          <a:prstGeom prst="rect">
            <a:avLst/>
          </a:prstGeom>
        </p:spPr>
      </p:pic>
    </p:spTree>
    <p:extLst>
      <p:ext uri="{BB962C8B-B14F-4D97-AF65-F5344CB8AC3E}">
        <p14:creationId xmlns:p14="http://schemas.microsoft.com/office/powerpoint/2010/main" val="514949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Operations on Data</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39CDDEDB-056A-413C-1FC0-E91B8016BC36}"/>
              </a:ext>
            </a:extLst>
          </p:cNvPr>
          <p:cNvPicPr>
            <a:picLocks noChangeAspect="1"/>
          </p:cNvPicPr>
          <p:nvPr/>
        </p:nvPicPr>
        <p:blipFill>
          <a:blip r:embed="rId4"/>
          <a:stretch>
            <a:fillRect/>
          </a:stretch>
        </p:blipFill>
        <p:spPr>
          <a:xfrm>
            <a:off x="1224426" y="1519354"/>
            <a:ext cx="6294665" cy="4785775"/>
          </a:xfrm>
          <a:prstGeom prst="rect">
            <a:avLst/>
          </a:prstGeom>
        </p:spPr>
      </p:pic>
    </p:spTree>
    <p:extLst>
      <p:ext uri="{BB962C8B-B14F-4D97-AF65-F5344CB8AC3E}">
        <p14:creationId xmlns:p14="http://schemas.microsoft.com/office/powerpoint/2010/main" val="3519163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Operations on Data</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8FAD7ED1-2978-03DF-44DB-773FFC717F89}"/>
              </a:ext>
            </a:extLst>
          </p:cNvPr>
          <p:cNvPicPr>
            <a:picLocks noChangeAspect="1"/>
          </p:cNvPicPr>
          <p:nvPr/>
        </p:nvPicPr>
        <p:blipFill>
          <a:blip r:embed="rId4"/>
          <a:stretch>
            <a:fillRect/>
          </a:stretch>
        </p:blipFill>
        <p:spPr>
          <a:xfrm>
            <a:off x="1209478" y="1712899"/>
            <a:ext cx="6774767" cy="4663844"/>
          </a:xfrm>
          <a:prstGeom prst="rect">
            <a:avLst/>
          </a:prstGeom>
        </p:spPr>
      </p:pic>
    </p:spTree>
    <p:extLst>
      <p:ext uri="{BB962C8B-B14F-4D97-AF65-F5344CB8AC3E}">
        <p14:creationId xmlns:p14="http://schemas.microsoft.com/office/powerpoint/2010/main" val="2134720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Operations on Data</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DDEE5064-C788-B7D9-1851-CE2330E8396D}"/>
              </a:ext>
            </a:extLst>
          </p:cNvPr>
          <p:cNvPicPr>
            <a:picLocks noChangeAspect="1"/>
          </p:cNvPicPr>
          <p:nvPr/>
        </p:nvPicPr>
        <p:blipFill>
          <a:blip r:embed="rId4"/>
          <a:stretch>
            <a:fillRect/>
          </a:stretch>
        </p:blipFill>
        <p:spPr>
          <a:xfrm>
            <a:off x="946272" y="1679430"/>
            <a:ext cx="6850974" cy="4526672"/>
          </a:xfrm>
          <a:prstGeom prst="rect">
            <a:avLst/>
          </a:prstGeom>
        </p:spPr>
      </p:pic>
    </p:spTree>
    <p:extLst>
      <p:ext uri="{BB962C8B-B14F-4D97-AF65-F5344CB8AC3E}">
        <p14:creationId xmlns:p14="http://schemas.microsoft.com/office/powerpoint/2010/main" val="2539742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Operations on Data</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E5ACF492-673E-9D7E-DB0F-565FA270C47C}"/>
              </a:ext>
            </a:extLst>
          </p:cNvPr>
          <p:cNvPicPr>
            <a:picLocks noChangeAspect="1"/>
          </p:cNvPicPr>
          <p:nvPr/>
        </p:nvPicPr>
        <p:blipFill>
          <a:blip r:embed="rId4"/>
          <a:stretch>
            <a:fillRect/>
          </a:stretch>
        </p:blipFill>
        <p:spPr>
          <a:xfrm>
            <a:off x="1230497" y="1601860"/>
            <a:ext cx="6713802" cy="4755292"/>
          </a:xfrm>
          <a:prstGeom prst="rect">
            <a:avLst/>
          </a:prstGeom>
        </p:spPr>
      </p:pic>
    </p:spTree>
    <p:extLst>
      <p:ext uri="{BB962C8B-B14F-4D97-AF65-F5344CB8AC3E}">
        <p14:creationId xmlns:p14="http://schemas.microsoft.com/office/powerpoint/2010/main" val="211792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Shor’s algorithm</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63D70D92-BC57-EC3C-11FA-FA2367FA99A5}"/>
              </a:ext>
            </a:extLst>
          </p:cNvPr>
          <p:cNvPicPr>
            <a:picLocks noChangeAspect="1"/>
          </p:cNvPicPr>
          <p:nvPr/>
        </p:nvPicPr>
        <p:blipFill>
          <a:blip r:embed="rId6"/>
          <a:stretch>
            <a:fillRect/>
          </a:stretch>
        </p:blipFill>
        <p:spPr>
          <a:xfrm>
            <a:off x="1322595" y="1741007"/>
            <a:ext cx="5814564" cy="3833192"/>
          </a:xfrm>
          <a:prstGeom prst="rect">
            <a:avLst/>
          </a:prstGeom>
        </p:spPr>
      </p:pic>
      <p:pic>
        <p:nvPicPr>
          <p:cNvPr id="2" name="animated_video_detailed_Shor_s">
            <a:hlinkClick r:id="" action="ppaction://media"/>
            <a:extLst>
              <a:ext uri="{FF2B5EF4-FFF2-40B4-BE49-F238E27FC236}">
                <a16:creationId xmlns:a16="http://schemas.microsoft.com/office/drawing/2014/main" id="{6400FFCB-4FEE-CA37-E7AF-1BBC6CA7AB9E}"/>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5141756" y="3594849"/>
            <a:ext cx="3633683" cy="2043947"/>
          </a:xfrm>
          <a:prstGeom prst="rect">
            <a:avLst/>
          </a:prstGeom>
        </p:spPr>
      </p:pic>
    </p:spTree>
    <p:extLst>
      <p:ext uri="{BB962C8B-B14F-4D97-AF65-F5344CB8AC3E}">
        <p14:creationId xmlns:p14="http://schemas.microsoft.com/office/powerpoint/2010/main" val="3760244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Shor’s algorithm</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708024FC-30B2-3FF5-7764-15C25E7CA3E4}"/>
              </a:ext>
            </a:extLst>
          </p:cNvPr>
          <p:cNvPicPr>
            <a:picLocks noChangeAspect="1"/>
          </p:cNvPicPr>
          <p:nvPr/>
        </p:nvPicPr>
        <p:blipFill>
          <a:blip r:embed="rId6"/>
          <a:stretch>
            <a:fillRect/>
          </a:stretch>
        </p:blipFill>
        <p:spPr>
          <a:xfrm>
            <a:off x="1138474" y="1519354"/>
            <a:ext cx="5753599" cy="4892464"/>
          </a:xfrm>
          <a:prstGeom prst="rect">
            <a:avLst/>
          </a:prstGeom>
        </p:spPr>
      </p:pic>
      <p:pic>
        <p:nvPicPr>
          <p:cNvPr id="2" name="animated_video_steps_of_Shor_s">
            <a:hlinkClick r:id="" action="ppaction://media"/>
            <a:extLst>
              <a:ext uri="{FF2B5EF4-FFF2-40B4-BE49-F238E27FC236}">
                <a16:creationId xmlns:a16="http://schemas.microsoft.com/office/drawing/2014/main" id="{0EBE9330-B344-177E-3885-A9A64148842E}"/>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5325223" y="3774142"/>
            <a:ext cx="3625725" cy="2039470"/>
          </a:xfrm>
          <a:prstGeom prst="rect">
            <a:avLst/>
          </a:prstGeom>
        </p:spPr>
      </p:pic>
    </p:spTree>
    <p:extLst>
      <p:ext uri="{BB962C8B-B14F-4D97-AF65-F5344CB8AC3E}">
        <p14:creationId xmlns:p14="http://schemas.microsoft.com/office/powerpoint/2010/main" val="985120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39569-E7C8-A06C-F09D-44001AA2F978}"/>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74325084-576E-6F3C-6BFD-2B4838003DC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Shor’s algorithm</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0FA90AB6-5E9D-213F-D935-9311E3817391}"/>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861492C2-6495-7FA3-1565-FB8663765F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3F5069-A3E5-649E-0C15-FE6907501566}"/>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CE56601B-536B-BAEB-31B0-9D7098E777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3DB5C676-662C-AE0F-E9E3-C852CBC971FF}"/>
              </a:ext>
            </a:extLst>
          </p:cNvPr>
          <p:cNvPicPr>
            <a:picLocks noChangeAspect="1"/>
          </p:cNvPicPr>
          <p:nvPr/>
        </p:nvPicPr>
        <p:blipFill>
          <a:blip r:embed="rId4"/>
          <a:stretch>
            <a:fillRect/>
          </a:stretch>
        </p:blipFill>
        <p:spPr>
          <a:xfrm>
            <a:off x="1138474" y="1519354"/>
            <a:ext cx="5753599" cy="4892464"/>
          </a:xfrm>
          <a:prstGeom prst="rect">
            <a:avLst/>
          </a:prstGeom>
        </p:spPr>
      </p:pic>
      <p:pic>
        <p:nvPicPr>
          <p:cNvPr id="4" name="Picture 3">
            <a:extLst>
              <a:ext uri="{FF2B5EF4-FFF2-40B4-BE49-F238E27FC236}">
                <a16:creationId xmlns:a16="http://schemas.microsoft.com/office/drawing/2014/main" id="{0B0D57D8-F45C-D324-A5A4-780FBEDADBE3}"/>
              </a:ext>
            </a:extLst>
          </p:cNvPr>
          <p:cNvPicPr>
            <a:picLocks noChangeAspect="1"/>
          </p:cNvPicPr>
          <p:nvPr/>
        </p:nvPicPr>
        <p:blipFill>
          <a:blip r:embed="rId5"/>
          <a:stretch>
            <a:fillRect/>
          </a:stretch>
        </p:blipFill>
        <p:spPr>
          <a:xfrm>
            <a:off x="6309589" y="3622498"/>
            <a:ext cx="2333951" cy="1190791"/>
          </a:xfrm>
          <a:prstGeom prst="rect">
            <a:avLst/>
          </a:prstGeom>
        </p:spPr>
      </p:pic>
      <p:pic>
        <p:nvPicPr>
          <p:cNvPr id="7" name="Picture 6">
            <a:extLst>
              <a:ext uri="{FF2B5EF4-FFF2-40B4-BE49-F238E27FC236}">
                <a16:creationId xmlns:a16="http://schemas.microsoft.com/office/drawing/2014/main" id="{791B0BD1-0C7E-DCC6-15BA-D2DA230237BA}"/>
              </a:ext>
            </a:extLst>
          </p:cNvPr>
          <p:cNvPicPr>
            <a:picLocks noChangeAspect="1"/>
          </p:cNvPicPr>
          <p:nvPr/>
        </p:nvPicPr>
        <p:blipFill>
          <a:blip r:embed="rId6"/>
          <a:stretch>
            <a:fillRect/>
          </a:stretch>
        </p:blipFill>
        <p:spPr>
          <a:xfrm>
            <a:off x="6309589" y="5016184"/>
            <a:ext cx="2391109" cy="1190791"/>
          </a:xfrm>
          <a:prstGeom prst="rect">
            <a:avLst/>
          </a:prstGeom>
        </p:spPr>
      </p:pic>
    </p:spTree>
    <p:extLst>
      <p:ext uri="{BB962C8B-B14F-4D97-AF65-F5344CB8AC3E}">
        <p14:creationId xmlns:p14="http://schemas.microsoft.com/office/powerpoint/2010/main" val="576754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Shor’s algorithm</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F95DCE3C-2624-D5CA-E356-C4A9847E8B5A}"/>
              </a:ext>
            </a:extLst>
          </p:cNvPr>
          <p:cNvPicPr>
            <a:picLocks noChangeAspect="1"/>
          </p:cNvPicPr>
          <p:nvPr/>
        </p:nvPicPr>
        <p:blipFill>
          <a:blip r:embed="rId4"/>
          <a:stretch>
            <a:fillRect/>
          </a:stretch>
        </p:blipFill>
        <p:spPr>
          <a:xfrm>
            <a:off x="1243320" y="1648903"/>
            <a:ext cx="6812870" cy="4717189"/>
          </a:xfrm>
          <a:prstGeom prst="rect">
            <a:avLst/>
          </a:prstGeom>
        </p:spPr>
      </p:pic>
    </p:spTree>
    <p:extLst>
      <p:ext uri="{BB962C8B-B14F-4D97-AF65-F5344CB8AC3E}">
        <p14:creationId xmlns:p14="http://schemas.microsoft.com/office/powerpoint/2010/main" val="3123296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Shor’s algorithm</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555AE703-60AD-4B36-D312-4508306AC454}"/>
              </a:ext>
            </a:extLst>
          </p:cNvPr>
          <p:cNvPicPr>
            <a:picLocks noChangeAspect="1"/>
          </p:cNvPicPr>
          <p:nvPr/>
        </p:nvPicPr>
        <p:blipFill>
          <a:blip r:embed="rId4"/>
          <a:stretch>
            <a:fillRect/>
          </a:stretch>
        </p:blipFill>
        <p:spPr>
          <a:xfrm>
            <a:off x="1356997" y="1519354"/>
            <a:ext cx="6828112" cy="5006774"/>
          </a:xfrm>
          <a:prstGeom prst="rect">
            <a:avLst/>
          </a:prstGeom>
        </p:spPr>
      </p:pic>
    </p:spTree>
    <p:extLst>
      <p:ext uri="{BB962C8B-B14F-4D97-AF65-F5344CB8AC3E}">
        <p14:creationId xmlns:p14="http://schemas.microsoft.com/office/powerpoint/2010/main" val="1701786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Shor’s algorithm</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8F70177C-8391-E8B0-021D-6980E3D1CA78}"/>
              </a:ext>
            </a:extLst>
          </p:cNvPr>
          <p:cNvPicPr>
            <a:picLocks noChangeAspect="1"/>
          </p:cNvPicPr>
          <p:nvPr/>
        </p:nvPicPr>
        <p:blipFill>
          <a:blip r:embed="rId4"/>
          <a:stretch>
            <a:fillRect/>
          </a:stretch>
        </p:blipFill>
        <p:spPr>
          <a:xfrm>
            <a:off x="1468790" y="1519354"/>
            <a:ext cx="6264183" cy="4808637"/>
          </a:xfrm>
          <a:prstGeom prst="rect">
            <a:avLst/>
          </a:prstGeom>
        </p:spPr>
      </p:pic>
    </p:spTree>
    <p:extLst>
      <p:ext uri="{BB962C8B-B14F-4D97-AF65-F5344CB8AC3E}">
        <p14:creationId xmlns:p14="http://schemas.microsoft.com/office/powerpoint/2010/main" val="19224614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Shor’s algorithm</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FF12EF0C-BA93-0C5F-BCEF-FE522CBF7BA7}"/>
              </a:ext>
            </a:extLst>
          </p:cNvPr>
          <p:cNvPicPr>
            <a:picLocks noChangeAspect="1"/>
          </p:cNvPicPr>
          <p:nvPr/>
        </p:nvPicPr>
        <p:blipFill>
          <a:blip r:embed="rId4"/>
          <a:stretch>
            <a:fillRect/>
          </a:stretch>
        </p:blipFill>
        <p:spPr>
          <a:xfrm>
            <a:off x="1117737" y="1685488"/>
            <a:ext cx="6508044" cy="3856054"/>
          </a:xfrm>
          <a:prstGeom prst="rect">
            <a:avLst/>
          </a:prstGeom>
        </p:spPr>
      </p:pic>
      <p:pic>
        <p:nvPicPr>
          <p:cNvPr id="4" name="Picture 3">
            <a:extLst>
              <a:ext uri="{FF2B5EF4-FFF2-40B4-BE49-F238E27FC236}">
                <a16:creationId xmlns:a16="http://schemas.microsoft.com/office/drawing/2014/main" id="{68015CC3-BD53-3C51-F2FC-EE8E1B17F29D}"/>
              </a:ext>
            </a:extLst>
          </p:cNvPr>
          <p:cNvPicPr>
            <a:picLocks noChangeAspect="1"/>
          </p:cNvPicPr>
          <p:nvPr/>
        </p:nvPicPr>
        <p:blipFill>
          <a:blip r:embed="rId5"/>
          <a:stretch>
            <a:fillRect/>
          </a:stretch>
        </p:blipFill>
        <p:spPr>
          <a:xfrm>
            <a:off x="93305" y="3802374"/>
            <a:ext cx="1744835" cy="899238"/>
          </a:xfrm>
          <a:prstGeom prst="rect">
            <a:avLst/>
          </a:prstGeom>
        </p:spPr>
      </p:pic>
    </p:spTree>
    <p:extLst>
      <p:ext uri="{BB962C8B-B14F-4D97-AF65-F5344CB8AC3E}">
        <p14:creationId xmlns:p14="http://schemas.microsoft.com/office/powerpoint/2010/main" val="41273686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Shor’s algorithm</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19151AF8-A555-0DA0-AA39-AD3D30A9C905}"/>
              </a:ext>
            </a:extLst>
          </p:cNvPr>
          <p:cNvPicPr>
            <a:picLocks noChangeAspect="1"/>
          </p:cNvPicPr>
          <p:nvPr/>
        </p:nvPicPr>
        <p:blipFill>
          <a:blip r:embed="rId4"/>
          <a:stretch>
            <a:fillRect/>
          </a:stretch>
        </p:blipFill>
        <p:spPr>
          <a:xfrm>
            <a:off x="1170534" y="1519354"/>
            <a:ext cx="6698560" cy="4831499"/>
          </a:xfrm>
          <a:prstGeom prst="rect">
            <a:avLst/>
          </a:prstGeom>
        </p:spPr>
      </p:pic>
    </p:spTree>
    <p:extLst>
      <p:ext uri="{BB962C8B-B14F-4D97-AF65-F5344CB8AC3E}">
        <p14:creationId xmlns:p14="http://schemas.microsoft.com/office/powerpoint/2010/main" val="38915729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Shor’s algorithm</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084D3960-874B-0FF5-2345-213666BD8A80}"/>
              </a:ext>
            </a:extLst>
          </p:cNvPr>
          <p:cNvPicPr>
            <a:picLocks noChangeAspect="1"/>
          </p:cNvPicPr>
          <p:nvPr/>
        </p:nvPicPr>
        <p:blipFill>
          <a:blip r:embed="rId4"/>
          <a:stretch>
            <a:fillRect/>
          </a:stretch>
        </p:blipFill>
        <p:spPr>
          <a:xfrm>
            <a:off x="1388597" y="1748644"/>
            <a:ext cx="6111770" cy="3360711"/>
          </a:xfrm>
          <a:prstGeom prst="rect">
            <a:avLst/>
          </a:prstGeom>
        </p:spPr>
      </p:pic>
    </p:spTree>
    <p:extLst>
      <p:ext uri="{BB962C8B-B14F-4D97-AF65-F5344CB8AC3E}">
        <p14:creationId xmlns:p14="http://schemas.microsoft.com/office/powerpoint/2010/main" val="19050792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Shor’s algorithm</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9349715B-EAC3-1DA5-DBC3-431C268743F7}"/>
              </a:ext>
            </a:extLst>
          </p:cNvPr>
          <p:cNvPicPr>
            <a:picLocks noChangeAspect="1"/>
          </p:cNvPicPr>
          <p:nvPr/>
        </p:nvPicPr>
        <p:blipFill>
          <a:blip r:embed="rId4"/>
          <a:stretch>
            <a:fillRect/>
          </a:stretch>
        </p:blipFill>
        <p:spPr>
          <a:xfrm>
            <a:off x="1148219" y="1602398"/>
            <a:ext cx="6447079" cy="4884843"/>
          </a:xfrm>
          <a:prstGeom prst="rect">
            <a:avLst/>
          </a:prstGeom>
        </p:spPr>
      </p:pic>
    </p:spTree>
    <p:extLst>
      <p:ext uri="{BB962C8B-B14F-4D97-AF65-F5344CB8AC3E}">
        <p14:creationId xmlns:p14="http://schemas.microsoft.com/office/powerpoint/2010/main" val="20114982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Shor’s algorithm</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237861EB-8215-4C74-3BCB-95CC4C5D952A}"/>
              </a:ext>
            </a:extLst>
          </p:cNvPr>
          <p:cNvPicPr>
            <a:picLocks noChangeAspect="1"/>
          </p:cNvPicPr>
          <p:nvPr/>
        </p:nvPicPr>
        <p:blipFill>
          <a:blip r:embed="rId4"/>
          <a:stretch>
            <a:fillRect/>
          </a:stretch>
        </p:blipFill>
        <p:spPr>
          <a:xfrm>
            <a:off x="1277223" y="1690036"/>
            <a:ext cx="6591871" cy="4709568"/>
          </a:xfrm>
          <a:prstGeom prst="rect">
            <a:avLst/>
          </a:prstGeom>
        </p:spPr>
      </p:pic>
    </p:spTree>
    <p:extLst>
      <p:ext uri="{BB962C8B-B14F-4D97-AF65-F5344CB8AC3E}">
        <p14:creationId xmlns:p14="http://schemas.microsoft.com/office/powerpoint/2010/main" val="1395590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Shor’s algorithm</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AEE5BBF3-C266-6412-013A-637270E3B45E}"/>
              </a:ext>
            </a:extLst>
          </p:cNvPr>
          <p:cNvPicPr>
            <a:picLocks noChangeAspect="1"/>
          </p:cNvPicPr>
          <p:nvPr/>
        </p:nvPicPr>
        <p:blipFill>
          <a:blip r:embed="rId4"/>
          <a:stretch>
            <a:fillRect/>
          </a:stretch>
        </p:blipFill>
        <p:spPr>
          <a:xfrm>
            <a:off x="1327305" y="1696621"/>
            <a:ext cx="6088908" cy="4549534"/>
          </a:xfrm>
          <a:prstGeom prst="rect">
            <a:avLst/>
          </a:prstGeom>
        </p:spPr>
      </p:pic>
    </p:spTree>
    <p:extLst>
      <p:ext uri="{BB962C8B-B14F-4D97-AF65-F5344CB8AC3E}">
        <p14:creationId xmlns:p14="http://schemas.microsoft.com/office/powerpoint/2010/main" val="28411405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Limitations of Quantum computing</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D5D54076-CADA-99C3-4910-8578A40EE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sp>
        <p:nvSpPr>
          <p:cNvPr id="7" name="TextBox 6">
            <a:extLst>
              <a:ext uri="{FF2B5EF4-FFF2-40B4-BE49-F238E27FC236}">
                <a16:creationId xmlns:a16="http://schemas.microsoft.com/office/drawing/2014/main" id="{B2B64153-8974-869A-44CE-68C7F5D70EEC}"/>
              </a:ext>
            </a:extLst>
          </p:cNvPr>
          <p:cNvSpPr txBox="1"/>
          <p:nvPr/>
        </p:nvSpPr>
        <p:spPr>
          <a:xfrm>
            <a:off x="674594" y="1509459"/>
            <a:ext cx="6100482" cy="369332"/>
          </a:xfrm>
          <a:prstGeom prst="rect">
            <a:avLst/>
          </a:prstGeom>
          <a:noFill/>
        </p:spPr>
        <p:txBody>
          <a:bodyPr wrap="square">
            <a:spAutoFit/>
          </a:bodyPr>
          <a:lstStyle/>
          <a:p>
            <a:r>
              <a:rPr lang="en-US" dirty="0"/>
              <a:t>1. Decoherence and Fragility</a:t>
            </a:r>
          </a:p>
        </p:txBody>
      </p:sp>
      <p:sp>
        <p:nvSpPr>
          <p:cNvPr id="11" name="TextBox 10">
            <a:extLst>
              <a:ext uri="{FF2B5EF4-FFF2-40B4-BE49-F238E27FC236}">
                <a16:creationId xmlns:a16="http://schemas.microsoft.com/office/drawing/2014/main" id="{0C9A8BF2-11CD-1950-7584-258AD769BDB9}"/>
              </a:ext>
            </a:extLst>
          </p:cNvPr>
          <p:cNvSpPr txBox="1"/>
          <p:nvPr/>
        </p:nvSpPr>
        <p:spPr>
          <a:xfrm>
            <a:off x="674594" y="1897021"/>
            <a:ext cx="6100482" cy="369332"/>
          </a:xfrm>
          <a:prstGeom prst="rect">
            <a:avLst/>
          </a:prstGeom>
          <a:noFill/>
        </p:spPr>
        <p:txBody>
          <a:bodyPr wrap="square">
            <a:spAutoFit/>
          </a:bodyPr>
          <a:lstStyle/>
          <a:p>
            <a:r>
              <a:rPr lang="en-US" dirty="0"/>
              <a:t>2. High Error Rates and the Need for Correction</a:t>
            </a:r>
          </a:p>
        </p:txBody>
      </p:sp>
      <p:sp>
        <p:nvSpPr>
          <p:cNvPr id="14" name="TextBox 13">
            <a:extLst>
              <a:ext uri="{FF2B5EF4-FFF2-40B4-BE49-F238E27FC236}">
                <a16:creationId xmlns:a16="http://schemas.microsoft.com/office/drawing/2014/main" id="{D5F67D29-3482-7783-0062-BBF21B08D601}"/>
              </a:ext>
            </a:extLst>
          </p:cNvPr>
          <p:cNvSpPr txBox="1"/>
          <p:nvPr/>
        </p:nvSpPr>
        <p:spPr>
          <a:xfrm>
            <a:off x="674594" y="2284583"/>
            <a:ext cx="6100482" cy="369332"/>
          </a:xfrm>
          <a:prstGeom prst="rect">
            <a:avLst/>
          </a:prstGeom>
          <a:noFill/>
        </p:spPr>
        <p:txBody>
          <a:bodyPr wrap="square">
            <a:spAutoFit/>
          </a:bodyPr>
          <a:lstStyle/>
          <a:p>
            <a:r>
              <a:rPr lang="en-US" dirty="0"/>
              <a:t>3. The No-Cloning Theorem</a:t>
            </a:r>
          </a:p>
        </p:txBody>
      </p:sp>
      <p:sp>
        <p:nvSpPr>
          <p:cNvPr id="16" name="TextBox 15">
            <a:extLst>
              <a:ext uri="{FF2B5EF4-FFF2-40B4-BE49-F238E27FC236}">
                <a16:creationId xmlns:a16="http://schemas.microsoft.com/office/drawing/2014/main" id="{FBF95B0C-D4BC-CC3E-165D-E8EA4D265E15}"/>
              </a:ext>
            </a:extLst>
          </p:cNvPr>
          <p:cNvSpPr txBox="1"/>
          <p:nvPr/>
        </p:nvSpPr>
        <p:spPr>
          <a:xfrm>
            <a:off x="674594" y="2672145"/>
            <a:ext cx="6100482" cy="369332"/>
          </a:xfrm>
          <a:prstGeom prst="rect">
            <a:avLst/>
          </a:prstGeom>
          <a:noFill/>
        </p:spPr>
        <p:txBody>
          <a:bodyPr wrap="square">
            <a:spAutoFit/>
          </a:bodyPr>
          <a:lstStyle/>
          <a:p>
            <a:r>
              <a:rPr lang="en-US" dirty="0"/>
              <a:t>4. Specialized Problem Solving</a:t>
            </a:r>
          </a:p>
        </p:txBody>
      </p:sp>
      <p:sp>
        <p:nvSpPr>
          <p:cNvPr id="18" name="TextBox 17">
            <a:extLst>
              <a:ext uri="{FF2B5EF4-FFF2-40B4-BE49-F238E27FC236}">
                <a16:creationId xmlns:a16="http://schemas.microsoft.com/office/drawing/2014/main" id="{6A840E8D-684E-4213-79B5-6ACBE6A96A1C}"/>
              </a:ext>
            </a:extLst>
          </p:cNvPr>
          <p:cNvSpPr txBox="1"/>
          <p:nvPr/>
        </p:nvSpPr>
        <p:spPr>
          <a:xfrm>
            <a:off x="674594" y="3059668"/>
            <a:ext cx="6100482" cy="369332"/>
          </a:xfrm>
          <a:prstGeom prst="rect">
            <a:avLst/>
          </a:prstGeom>
          <a:noFill/>
        </p:spPr>
        <p:txBody>
          <a:bodyPr wrap="square">
            <a:spAutoFit/>
          </a:bodyPr>
          <a:lstStyle/>
          <a:p>
            <a:r>
              <a:rPr lang="en-US" dirty="0"/>
              <a:t>5. Programming Complexity</a:t>
            </a:r>
          </a:p>
        </p:txBody>
      </p:sp>
      <p:pic>
        <p:nvPicPr>
          <p:cNvPr id="1026" name="Picture 2" descr="Cryogenic cooling is required to prevent decoherence, AI generated">
            <a:extLst>
              <a:ext uri="{FF2B5EF4-FFF2-40B4-BE49-F238E27FC236}">
                <a16:creationId xmlns:a16="http://schemas.microsoft.com/office/drawing/2014/main" id="{429ECE9D-6241-3968-AD3B-D01B28DC64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6301" y="1467724"/>
            <a:ext cx="1605337" cy="2408842"/>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63739830-A20A-5AED-4B18-DADA68E35C37}"/>
              </a:ext>
            </a:extLst>
          </p:cNvPr>
          <p:cNvSpPr txBox="1"/>
          <p:nvPr/>
        </p:nvSpPr>
        <p:spPr>
          <a:xfrm>
            <a:off x="674594" y="3492063"/>
            <a:ext cx="6100482" cy="1477328"/>
          </a:xfrm>
          <a:prstGeom prst="rect">
            <a:avLst/>
          </a:prstGeom>
          <a:noFill/>
        </p:spPr>
        <p:txBody>
          <a:bodyPr wrap="square">
            <a:spAutoFit/>
          </a:bodyPr>
          <a:lstStyle/>
          <a:p>
            <a:r>
              <a:rPr lang="en-US" dirty="0"/>
              <a:t>Quantum computers are not designed to replace classical computers for everyday tasks. Instead, they excel at specific, highly complex computational challenges that would take traditional computers thousands or even millions of years to solve. For example:</a:t>
            </a:r>
          </a:p>
        </p:txBody>
      </p:sp>
      <p:sp>
        <p:nvSpPr>
          <p:cNvPr id="23" name="TextBox 22">
            <a:extLst>
              <a:ext uri="{FF2B5EF4-FFF2-40B4-BE49-F238E27FC236}">
                <a16:creationId xmlns:a16="http://schemas.microsoft.com/office/drawing/2014/main" id="{4555E4C2-DB9D-2AB9-F42B-63B0857A8DA7}"/>
              </a:ext>
            </a:extLst>
          </p:cNvPr>
          <p:cNvSpPr txBox="1"/>
          <p:nvPr/>
        </p:nvSpPr>
        <p:spPr>
          <a:xfrm>
            <a:off x="674594" y="4979209"/>
            <a:ext cx="6100482" cy="369332"/>
          </a:xfrm>
          <a:prstGeom prst="rect">
            <a:avLst/>
          </a:prstGeom>
          <a:noFill/>
        </p:spPr>
        <p:txBody>
          <a:bodyPr wrap="square">
            <a:spAutoFit/>
          </a:bodyPr>
          <a:lstStyle/>
          <a:p>
            <a:r>
              <a:rPr lang="en-US" dirty="0"/>
              <a:t>1. Molecular Simulation and Chemistry</a:t>
            </a:r>
          </a:p>
        </p:txBody>
      </p:sp>
      <p:sp>
        <p:nvSpPr>
          <p:cNvPr id="25" name="TextBox 24">
            <a:extLst>
              <a:ext uri="{FF2B5EF4-FFF2-40B4-BE49-F238E27FC236}">
                <a16:creationId xmlns:a16="http://schemas.microsoft.com/office/drawing/2014/main" id="{42F427AC-70F8-BF2F-73C3-73D15DCC5002}"/>
              </a:ext>
            </a:extLst>
          </p:cNvPr>
          <p:cNvSpPr txBox="1"/>
          <p:nvPr/>
        </p:nvSpPr>
        <p:spPr>
          <a:xfrm>
            <a:off x="665819" y="5338687"/>
            <a:ext cx="6100482" cy="369332"/>
          </a:xfrm>
          <a:prstGeom prst="rect">
            <a:avLst/>
          </a:prstGeom>
          <a:noFill/>
        </p:spPr>
        <p:txBody>
          <a:bodyPr wrap="square">
            <a:spAutoFit/>
          </a:bodyPr>
          <a:lstStyle/>
          <a:p>
            <a:r>
              <a:rPr lang="en-US" dirty="0"/>
              <a:t>2. Complex Optimization Problems</a:t>
            </a:r>
          </a:p>
        </p:txBody>
      </p:sp>
      <p:sp>
        <p:nvSpPr>
          <p:cNvPr id="27" name="TextBox 26">
            <a:extLst>
              <a:ext uri="{FF2B5EF4-FFF2-40B4-BE49-F238E27FC236}">
                <a16:creationId xmlns:a16="http://schemas.microsoft.com/office/drawing/2014/main" id="{A7B20303-DBEF-B6B7-21F6-2F353A7B1BDD}"/>
              </a:ext>
            </a:extLst>
          </p:cNvPr>
          <p:cNvSpPr txBox="1"/>
          <p:nvPr/>
        </p:nvSpPr>
        <p:spPr>
          <a:xfrm>
            <a:off x="665819" y="5688311"/>
            <a:ext cx="6100482" cy="369332"/>
          </a:xfrm>
          <a:prstGeom prst="rect">
            <a:avLst/>
          </a:prstGeom>
          <a:noFill/>
        </p:spPr>
        <p:txBody>
          <a:bodyPr wrap="square">
            <a:spAutoFit/>
          </a:bodyPr>
          <a:lstStyle/>
          <a:p>
            <a:r>
              <a:rPr lang="en-US" dirty="0"/>
              <a:t>3. Cryptography and Integer Factorization</a:t>
            </a:r>
          </a:p>
        </p:txBody>
      </p:sp>
      <p:sp>
        <p:nvSpPr>
          <p:cNvPr id="29" name="TextBox 28">
            <a:extLst>
              <a:ext uri="{FF2B5EF4-FFF2-40B4-BE49-F238E27FC236}">
                <a16:creationId xmlns:a16="http://schemas.microsoft.com/office/drawing/2014/main" id="{23BB1A80-8560-88D3-ABBD-B0AD512D2ECE}"/>
              </a:ext>
            </a:extLst>
          </p:cNvPr>
          <p:cNvSpPr txBox="1"/>
          <p:nvPr/>
        </p:nvSpPr>
        <p:spPr>
          <a:xfrm>
            <a:off x="674594" y="6028081"/>
            <a:ext cx="6100482" cy="369332"/>
          </a:xfrm>
          <a:prstGeom prst="rect">
            <a:avLst/>
          </a:prstGeom>
          <a:noFill/>
        </p:spPr>
        <p:txBody>
          <a:bodyPr wrap="square">
            <a:spAutoFit/>
          </a:bodyPr>
          <a:lstStyle/>
          <a:p>
            <a:r>
              <a:rPr lang="en-US" dirty="0"/>
              <a:t>4. Machine Learning and Pattern Recognition</a:t>
            </a:r>
          </a:p>
        </p:txBody>
      </p:sp>
      <p:sp>
        <p:nvSpPr>
          <p:cNvPr id="31" name="TextBox 30">
            <a:extLst>
              <a:ext uri="{FF2B5EF4-FFF2-40B4-BE49-F238E27FC236}">
                <a16:creationId xmlns:a16="http://schemas.microsoft.com/office/drawing/2014/main" id="{F92C3E6B-E884-418F-E077-AB59AB5F9C63}"/>
              </a:ext>
            </a:extLst>
          </p:cNvPr>
          <p:cNvSpPr txBox="1"/>
          <p:nvPr/>
        </p:nvSpPr>
        <p:spPr>
          <a:xfrm>
            <a:off x="5130053" y="5362492"/>
            <a:ext cx="6100482" cy="646331"/>
          </a:xfrm>
          <a:prstGeom prst="rect">
            <a:avLst/>
          </a:prstGeom>
          <a:noFill/>
        </p:spPr>
        <p:txBody>
          <a:bodyPr wrap="square">
            <a:spAutoFit/>
          </a:bodyPr>
          <a:lstStyle/>
          <a:p>
            <a:r>
              <a:rPr lang="en-US" dirty="0">
                <a:hlinkClick r:id="rId5"/>
              </a:rPr>
              <a:t>https://www.youtube.com/watch?v=MJXlXFRQfGI</a:t>
            </a:r>
            <a:endParaRPr lang="en-US" dirty="0"/>
          </a:p>
          <a:p>
            <a:endParaRPr lang="en-US" dirty="0"/>
          </a:p>
        </p:txBody>
      </p:sp>
      <p:sp>
        <p:nvSpPr>
          <p:cNvPr id="33" name="TextBox 32">
            <a:extLst>
              <a:ext uri="{FF2B5EF4-FFF2-40B4-BE49-F238E27FC236}">
                <a16:creationId xmlns:a16="http://schemas.microsoft.com/office/drawing/2014/main" id="{1B0DFDE3-7A3B-9472-8634-E7F45445885E}"/>
              </a:ext>
            </a:extLst>
          </p:cNvPr>
          <p:cNvSpPr txBox="1"/>
          <p:nvPr/>
        </p:nvSpPr>
        <p:spPr>
          <a:xfrm>
            <a:off x="5130053" y="4830251"/>
            <a:ext cx="6100482" cy="646331"/>
          </a:xfrm>
          <a:prstGeom prst="rect">
            <a:avLst/>
          </a:prstGeom>
          <a:noFill/>
        </p:spPr>
        <p:txBody>
          <a:bodyPr wrap="square">
            <a:spAutoFit/>
          </a:bodyPr>
          <a:lstStyle/>
          <a:p>
            <a:r>
              <a:rPr lang="en-US" dirty="0">
                <a:hlinkClick r:id="rId6"/>
              </a:rPr>
              <a:t>https://www.youtube.com/watch?v=nlyu68u0zEs</a:t>
            </a:r>
            <a:endParaRPr lang="en-US" dirty="0"/>
          </a:p>
          <a:p>
            <a:endParaRPr lang="en-US" dirty="0"/>
          </a:p>
        </p:txBody>
      </p:sp>
    </p:spTree>
    <p:extLst>
      <p:ext uri="{BB962C8B-B14F-4D97-AF65-F5344CB8AC3E}">
        <p14:creationId xmlns:p14="http://schemas.microsoft.com/office/powerpoint/2010/main" val="10371077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7B5C8-1D25-EE3C-3974-5D850BD6E2BD}"/>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0034D392-D2B7-0291-B120-14193477DEB5}"/>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Conclusion</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1B72B490-5F10-0109-3A80-99E2A6E88ECA}"/>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3F310A0-41E2-613A-EDF7-30A10C8EDE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BA93403B-017C-7DD0-A2E1-9FBAC98E2780}"/>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12" name="Picture 11">
            <a:extLst>
              <a:ext uri="{FF2B5EF4-FFF2-40B4-BE49-F238E27FC236}">
                <a16:creationId xmlns:a16="http://schemas.microsoft.com/office/drawing/2014/main" id="{66DAF4E7-F444-F777-CFF1-141ADE99E2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pic>
        <p:nvPicPr>
          <p:cNvPr id="3" name="Picture 2">
            <a:extLst>
              <a:ext uri="{FF2B5EF4-FFF2-40B4-BE49-F238E27FC236}">
                <a16:creationId xmlns:a16="http://schemas.microsoft.com/office/drawing/2014/main" id="{AC2796FD-5F95-E01F-9C35-06249FEB23AC}"/>
              </a:ext>
            </a:extLst>
          </p:cNvPr>
          <p:cNvPicPr>
            <a:picLocks noChangeAspect="1"/>
          </p:cNvPicPr>
          <p:nvPr/>
        </p:nvPicPr>
        <p:blipFill>
          <a:blip r:embed="rId4"/>
          <a:stretch>
            <a:fillRect/>
          </a:stretch>
        </p:blipFill>
        <p:spPr>
          <a:xfrm>
            <a:off x="877896" y="1458238"/>
            <a:ext cx="6485182" cy="1988992"/>
          </a:xfrm>
          <a:prstGeom prst="rect">
            <a:avLst/>
          </a:prstGeom>
        </p:spPr>
      </p:pic>
      <p:sp>
        <p:nvSpPr>
          <p:cNvPr id="4" name="TextBox 3">
            <a:extLst>
              <a:ext uri="{FF2B5EF4-FFF2-40B4-BE49-F238E27FC236}">
                <a16:creationId xmlns:a16="http://schemas.microsoft.com/office/drawing/2014/main" id="{343B9124-DEBF-4147-C824-D9B0F35DFDBE}"/>
              </a:ext>
            </a:extLst>
          </p:cNvPr>
          <p:cNvSpPr txBox="1"/>
          <p:nvPr/>
        </p:nvSpPr>
        <p:spPr>
          <a:xfrm>
            <a:off x="1173732" y="3988404"/>
            <a:ext cx="6100482" cy="646331"/>
          </a:xfrm>
          <a:prstGeom prst="rect">
            <a:avLst/>
          </a:prstGeom>
          <a:noFill/>
        </p:spPr>
        <p:txBody>
          <a:bodyPr wrap="square">
            <a:spAutoFit/>
          </a:bodyPr>
          <a:lstStyle/>
          <a:p>
            <a:r>
              <a:rPr lang="en-US" dirty="0">
                <a:hlinkClick r:id="rId5"/>
              </a:rPr>
              <a:t>https://www.youtube.com/watch?v=wC3KWHV_hiY&amp;t=1s</a:t>
            </a:r>
            <a:endParaRPr lang="en-US" dirty="0"/>
          </a:p>
          <a:p>
            <a:endParaRPr lang="en-US" dirty="0"/>
          </a:p>
        </p:txBody>
      </p:sp>
    </p:spTree>
    <p:extLst>
      <p:ext uri="{BB962C8B-B14F-4D97-AF65-F5344CB8AC3E}">
        <p14:creationId xmlns:p14="http://schemas.microsoft.com/office/powerpoint/2010/main" val="6292702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599343"/>
            <a:ext cx="7999758" cy="461665"/>
          </a:xfrm>
          <a:prstGeom prst="rect">
            <a:avLst/>
          </a:prstGeom>
        </p:spPr>
        <p:txBody>
          <a:bodyPr wrap="square">
            <a:spAutoFit/>
          </a:bodyPr>
          <a:lstStyle/>
          <a:p>
            <a:r>
              <a:rPr lang="en-IN" sz="2400" b="1" dirty="0">
                <a:solidFill>
                  <a:schemeClr val="accent2">
                    <a:lumMod val="75000"/>
                  </a:schemeClr>
                </a:solidFill>
              </a:rPr>
              <a:t>Exam Pattern and Textbooks</a:t>
            </a:r>
          </a:p>
        </p:txBody>
      </p: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cxnSp>
        <p:nvCxnSpPr>
          <p:cNvPr id="7" name="Straight Connector 6">
            <a:extLst>
              <a:ext uri="{FF2B5EF4-FFF2-40B4-BE49-F238E27FC236}">
                <a16:creationId xmlns:a16="http://schemas.microsoft.com/office/drawing/2014/main" id="{D0E42263-8145-4F50-B2DB-E147088B85F6}"/>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0DB6106E-B1D1-4F64-999B-D29E690F6360}"/>
              </a:ext>
            </a:extLst>
          </p:cNvPr>
          <p:cNvSpPr>
            <a:spLocks noGrp="1"/>
          </p:cNvSpPr>
          <p:nvPr>
            <p:ph sz="half" idx="1"/>
          </p:nvPr>
        </p:nvSpPr>
        <p:spPr>
          <a:xfrm>
            <a:off x="354346" y="1408111"/>
            <a:ext cx="6169002" cy="4351338"/>
          </a:xfrm>
        </p:spPr>
        <p:txBody>
          <a:bodyPr>
            <a:normAutofit/>
          </a:bodyPr>
          <a:lstStyle/>
          <a:p>
            <a:pPr marL="0" indent="0">
              <a:buNone/>
            </a:pPr>
            <a:r>
              <a:rPr lang="en-US" dirty="0"/>
              <a:t>Internals</a:t>
            </a:r>
          </a:p>
          <a:p>
            <a:r>
              <a:rPr lang="en-US" dirty="0"/>
              <a:t>ISA01: CBT 40M</a:t>
            </a:r>
          </a:p>
          <a:p>
            <a:r>
              <a:rPr lang="en-US" dirty="0"/>
              <a:t>ISA02: CBT 40M</a:t>
            </a:r>
          </a:p>
          <a:p>
            <a:r>
              <a:rPr lang="en-US" dirty="0"/>
              <a:t>A/H/P: Design Task – 10 M</a:t>
            </a:r>
          </a:p>
          <a:p>
            <a:pPr marL="0" indent="0">
              <a:buNone/>
            </a:pPr>
            <a:r>
              <a:rPr lang="en-US" dirty="0"/>
              <a:t>(Design/Executive summary Report)</a:t>
            </a:r>
          </a:p>
          <a:p>
            <a:endParaRPr lang="en-US" dirty="0"/>
          </a:p>
          <a:p>
            <a:r>
              <a:rPr lang="en-US" dirty="0"/>
              <a:t>ESA: Design Task – 50 M (Design/Report submission)</a:t>
            </a:r>
            <a:endParaRPr lang="en-IN" dirty="0"/>
          </a:p>
        </p:txBody>
      </p:sp>
      <p:sp>
        <p:nvSpPr>
          <p:cNvPr id="9" name="Rectangle 8">
            <a:extLst>
              <a:ext uri="{FF2B5EF4-FFF2-40B4-BE49-F238E27FC236}">
                <a16:creationId xmlns:a16="http://schemas.microsoft.com/office/drawing/2014/main" id="{926682F7-4C02-CC6F-6A45-276A94BE8028}"/>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4" name="Picture 3">
            <a:extLst>
              <a:ext uri="{FF2B5EF4-FFF2-40B4-BE49-F238E27FC236}">
                <a16:creationId xmlns:a16="http://schemas.microsoft.com/office/drawing/2014/main" id="{4BC83C9C-501F-2B5A-4229-323B207626D3}"/>
              </a:ext>
            </a:extLst>
          </p:cNvPr>
          <p:cNvPicPr>
            <a:picLocks noChangeAspect="1"/>
          </p:cNvPicPr>
          <p:nvPr/>
        </p:nvPicPr>
        <p:blipFill>
          <a:blip r:embed="rId3"/>
          <a:stretch>
            <a:fillRect/>
          </a:stretch>
        </p:blipFill>
        <p:spPr>
          <a:xfrm>
            <a:off x="6774803" y="1544265"/>
            <a:ext cx="1320670" cy="2039515"/>
          </a:xfrm>
          <a:prstGeom prst="rect">
            <a:avLst/>
          </a:prstGeom>
        </p:spPr>
      </p:pic>
      <p:pic>
        <p:nvPicPr>
          <p:cNvPr id="10" name="Picture 9">
            <a:extLst>
              <a:ext uri="{FF2B5EF4-FFF2-40B4-BE49-F238E27FC236}">
                <a16:creationId xmlns:a16="http://schemas.microsoft.com/office/drawing/2014/main" id="{7F0CC37B-7BD9-05E4-DA07-BD057679B4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4803" y="3648254"/>
            <a:ext cx="1325523" cy="1893288"/>
          </a:xfrm>
          <a:prstGeom prst="rect">
            <a:avLst/>
          </a:prstGeom>
        </p:spPr>
      </p:pic>
      <p:pic>
        <p:nvPicPr>
          <p:cNvPr id="11" name="Picture 10">
            <a:extLst>
              <a:ext uri="{FF2B5EF4-FFF2-40B4-BE49-F238E27FC236}">
                <a16:creationId xmlns:a16="http://schemas.microsoft.com/office/drawing/2014/main" id="{E49BA10A-D4F0-7F24-EE6C-4F6EA6E8F7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28186" y="1999030"/>
            <a:ext cx="2486439" cy="1707421"/>
          </a:xfrm>
          <a:prstGeom prst="rect">
            <a:avLst/>
          </a:prstGeom>
        </p:spPr>
      </p:pic>
    </p:spTree>
    <p:extLst>
      <p:ext uri="{BB962C8B-B14F-4D97-AF65-F5344CB8AC3E}">
        <p14:creationId xmlns:p14="http://schemas.microsoft.com/office/powerpoint/2010/main" val="3830144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473B520-A9D1-472D-B234-C4032DD0E596}"/>
              </a:ext>
            </a:extLst>
          </p:cNvPr>
          <p:cNvCxnSpPr>
            <a:cxnSpLocks/>
          </p:cNvCxnSpPr>
          <p:nvPr/>
        </p:nvCxnSpPr>
        <p:spPr>
          <a:xfrm flipV="1">
            <a:off x="5448168" y="2887307"/>
            <a:ext cx="4581449" cy="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EC43E8D5-98D6-4BA6-B3EA-B5411DA566A9}"/>
              </a:ext>
            </a:extLst>
          </p:cNvPr>
          <p:cNvSpPr/>
          <p:nvPr/>
        </p:nvSpPr>
        <p:spPr>
          <a:xfrm>
            <a:off x="5448168" y="4660168"/>
            <a:ext cx="3873114" cy="461665"/>
          </a:xfrm>
          <a:prstGeom prst="rect">
            <a:avLst/>
          </a:prstGeom>
        </p:spPr>
        <p:txBody>
          <a:bodyPr wrap="square">
            <a:spAutoFit/>
          </a:bodyPr>
          <a:lstStyle/>
          <a:p>
            <a:r>
              <a:rPr lang="en-US" sz="2400" b="1" dirty="0"/>
              <a:t>kaustavbhowmick@pes.edu</a:t>
            </a:r>
            <a:endParaRPr lang="en-IN" sz="2400" b="1" dirty="0"/>
          </a:p>
        </p:txBody>
      </p:sp>
      <p:grpSp>
        <p:nvGrpSpPr>
          <p:cNvPr id="13" name="Group 12">
            <a:extLst>
              <a:ext uri="{FF2B5EF4-FFF2-40B4-BE49-F238E27FC236}">
                <a16:creationId xmlns:a16="http://schemas.microsoft.com/office/drawing/2014/main" id="{0B436274-E913-46F7-B58F-E0B0713EC594}"/>
              </a:ext>
            </a:extLst>
          </p:cNvPr>
          <p:cNvGrpSpPr/>
          <p:nvPr/>
        </p:nvGrpSpPr>
        <p:grpSpPr>
          <a:xfrm>
            <a:off x="313844" y="349466"/>
            <a:ext cx="11518407" cy="6218388"/>
            <a:chOff x="313844" y="349466"/>
            <a:chExt cx="11518407" cy="6218388"/>
          </a:xfrm>
          <a:solidFill>
            <a:schemeClr val="accent2">
              <a:lumMod val="75000"/>
            </a:schemeClr>
          </a:solidFill>
        </p:grpSpPr>
        <p:sp>
          <p:nvSpPr>
            <p:cNvPr id="14" name="Rectangle 13">
              <a:extLst>
                <a:ext uri="{FF2B5EF4-FFF2-40B4-BE49-F238E27FC236}">
                  <a16:creationId xmlns:a16="http://schemas.microsoft.com/office/drawing/2014/main" id="{54B9092D-46D3-4724-A230-51F43D78A967}"/>
                </a:ext>
              </a:extLst>
            </p:cNvPr>
            <p:cNvSpPr/>
            <p:nvPr/>
          </p:nvSpPr>
          <p:spPr>
            <a:xfrm>
              <a:off x="11786532" y="360726"/>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B5E94C15-EFC4-4DC4-AE91-4D6631C438BE}"/>
                </a:ext>
              </a:extLst>
            </p:cNvPr>
            <p:cNvSpPr/>
            <p:nvPr/>
          </p:nvSpPr>
          <p:spPr>
            <a:xfrm rot="5400000">
              <a:off x="11275944" y="-161122"/>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828287AB-A481-4BDF-BE49-1BBA364237E1}"/>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EC3328F7-E593-44F8-A55A-576E1E3E973D}"/>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8" name="Picture 17" descr="A close up of a logo&#10;&#10;Description automatically generated">
            <a:extLst>
              <a:ext uri="{FF2B5EF4-FFF2-40B4-BE49-F238E27FC236}">
                <a16:creationId xmlns:a16="http://schemas.microsoft.com/office/drawing/2014/main" id="{A88F3CC2-5C5B-4685-8D94-FFC4B5D64C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11974" y="1606241"/>
            <a:ext cx="2369218" cy="3550188"/>
          </a:xfrm>
          <a:prstGeom prst="rect">
            <a:avLst/>
          </a:prstGeom>
        </p:spPr>
      </p:pic>
      <p:sp>
        <p:nvSpPr>
          <p:cNvPr id="19" name="Rectangle 18">
            <a:extLst>
              <a:ext uri="{FF2B5EF4-FFF2-40B4-BE49-F238E27FC236}">
                <a16:creationId xmlns:a16="http://schemas.microsoft.com/office/drawing/2014/main" id="{94BAC35B-0C86-48BD-81AE-8629CCB2734E}"/>
              </a:ext>
            </a:extLst>
          </p:cNvPr>
          <p:cNvSpPr/>
          <p:nvPr/>
        </p:nvSpPr>
        <p:spPr>
          <a:xfrm>
            <a:off x="5448168" y="2049518"/>
            <a:ext cx="4603806" cy="665240"/>
          </a:xfrm>
          <a:prstGeom prst="rect">
            <a:avLst/>
          </a:prstGeom>
        </p:spPr>
        <p:txBody>
          <a:bodyPr wrap="square">
            <a:spAutoFit/>
          </a:bodyPr>
          <a:lstStyle/>
          <a:p>
            <a:r>
              <a:rPr lang="en-US" sz="3600" b="1" dirty="0">
                <a:solidFill>
                  <a:schemeClr val="accent2">
                    <a:lumMod val="75000"/>
                  </a:schemeClr>
                </a:solidFill>
              </a:rPr>
              <a:t>T</a:t>
            </a:r>
            <a:r>
              <a:rPr lang="en-IN" sz="3600" b="1" dirty="0">
                <a:solidFill>
                  <a:schemeClr val="accent2">
                    <a:lumMod val="75000"/>
                  </a:schemeClr>
                </a:solidFill>
              </a:rPr>
              <a:t>HANK YOU</a:t>
            </a:r>
          </a:p>
        </p:txBody>
      </p:sp>
      <p:sp>
        <p:nvSpPr>
          <p:cNvPr id="20" name="Rectangle 19">
            <a:extLst>
              <a:ext uri="{FF2B5EF4-FFF2-40B4-BE49-F238E27FC236}">
                <a16:creationId xmlns:a16="http://schemas.microsoft.com/office/drawing/2014/main" id="{97E8DF64-61DB-4438-8664-105788459AD2}"/>
              </a:ext>
            </a:extLst>
          </p:cNvPr>
          <p:cNvSpPr/>
          <p:nvPr/>
        </p:nvSpPr>
        <p:spPr>
          <a:xfrm>
            <a:off x="5448168" y="3128242"/>
            <a:ext cx="7497214" cy="461665"/>
          </a:xfrm>
          <a:prstGeom prst="rect">
            <a:avLst/>
          </a:prstGeom>
        </p:spPr>
        <p:txBody>
          <a:bodyPr wrap="square">
            <a:spAutoFit/>
          </a:bodyPr>
          <a:lstStyle/>
          <a:p>
            <a:r>
              <a:rPr lang="en-US" sz="2400" b="1" dirty="0"/>
              <a:t>Dr. Kaustav Bhowmick</a:t>
            </a:r>
            <a:endParaRPr lang="en-IN" sz="2400" b="1" dirty="0"/>
          </a:p>
        </p:txBody>
      </p:sp>
      <p:sp>
        <p:nvSpPr>
          <p:cNvPr id="21" name="Rectangle 20">
            <a:extLst>
              <a:ext uri="{FF2B5EF4-FFF2-40B4-BE49-F238E27FC236}">
                <a16:creationId xmlns:a16="http://schemas.microsoft.com/office/drawing/2014/main" id="{0916C8C7-6436-48A9-9CF7-1AAC7653EAAE}"/>
              </a:ext>
            </a:extLst>
          </p:cNvPr>
          <p:cNvSpPr/>
          <p:nvPr/>
        </p:nvSpPr>
        <p:spPr>
          <a:xfrm>
            <a:off x="5448168" y="3557265"/>
            <a:ext cx="7497214" cy="830997"/>
          </a:xfrm>
          <a:prstGeom prst="rect">
            <a:avLst/>
          </a:prstGeom>
        </p:spPr>
        <p:txBody>
          <a:bodyPr wrap="square">
            <a:spAutoFit/>
          </a:bodyPr>
          <a:lstStyle/>
          <a:p>
            <a:r>
              <a:rPr lang="en-US" sz="2400" dirty="0"/>
              <a:t>Department of Electronics &amp; Communication </a:t>
            </a:r>
          </a:p>
          <a:p>
            <a:r>
              <a:rPr lang="en-US" sz="2400" dirty="0"/>
              <a:t>Engineering</a:t>
            </a:r>
            <a:endParaRPr lang="en-IN" sz="2400" dirty="0"/>
          </a:p>
        </p:txBody>
      </p:sp>
    </p:spTree>
    <p:extLst>
      <p:ext uri="{BB962C8B-B14F-4D97-AF65-F5344CB8AC3E}">
        <p14:creationId xmlns:p14="http://schemas.microsoft.com/office/powerpoint/2010/main" val="1459503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2355</TotalTime>
  <Words>484</Words>
  <Application>Microsoft Office PowerPoint</Application>
  <PresentationFormat>Widescreen</PresentationFormat>
  <Paragraphs>100</Paragraphs>
  <Slides>32</Slides>
  <Notes>0</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Krishna Venkataram</dc:creator>
  <cp:lastModifiedBy>Kaustav Bhowmick</cp:lastModifiedBy>
  <cp:revision>138</cp:revision>
  <dcterms:created xsi:type="dcterms:W3CDTF">2020-06-03T14:19:11Z</dcterms:created>
  <dcterms:modified xsi:type="dcterms:W3CDTF">2026-08-24T01:39:21Z</dcterms:modified>
</cp:coreProperties>
</file>