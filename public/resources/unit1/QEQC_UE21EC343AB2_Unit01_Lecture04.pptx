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57" r:id="rId2"/>
    <p:sldId id="358" r:id="rId3"/>
    <p:sldId id="366" r:id="rId4"/>
    <p:sldId id="367" r:id="rId5"/>
    <p:sldId id="458" r:id="rId6"/>
    <p:sldId id="459" r:id="rId7"/>
    <p:sldId id="460" r:id="rId8"/>
    <p:sldId id="461" r:id="rId9"/>
    <p:sldId id="462" r:id="rId10"/>
    <p:sldId id="463" r:id="rId11"/>
    <p:sldId id="464" r:id="rId12"/>
    <p:sldId id="465" r:id="rId13"/>
    <p:sldId id="466" r:id="rId14"/>
    <p:sldId id="467" r:id="rId15"/>
    <p:sldId id="468" r:id="rId16"/>
    <p:sldId id="499" r:id="rId17"/>
    <p:sldId id="500" r:id="rId18"/>
    <p:sldId id="469" r:id="rId19"/>
    <p:sldId id="501" r:id="rId20"/>
    <p:sldId id="502" r:id="rId21"/>
    <p:sldId id="503" r:id="rId22"/>
    <p:sldId id="470" r:id="rId23"/>
    <p:sldId id="504" r:id="rId24"/>
    <p:sldId id="471" r:id="rId25"/>
    <p:sldId id="505" r:id="rId26"/>
    <p:sldId id="472" r:id="rId27"/>
    <p:sldId id="473" r:id="rId28"/>
    <p:sldId id="506" r:id="rId29"/>
    <p:sldId id="474" r:id="rId30"/>
    <p:sldId id="507" r:id="rId31"/>
    <p:sldId id="508" r:id="rId32"/>
    <p:sldId id="509" r:id="rId33"/>
    <p:sldId id="510" r:id="rId34"/>
    <p:sldId id="511" r:id="rId35"/>
    <p:sldId id="512" r:id="rId36"/>
    <p:sldId id="513" r:id="rId37"/>
    <p:sldId id="514" r:id="rId38"/>
    <p:sldId id="515" r:id="rId39"/>
    <p:sldId id="516" r:id="rId40"/>
    <p:sldId id="517" r:id="rId41"/>
    <p:sldId id="518" r:id="rId42"/>
    <p:sldId id="519" r:id="rId43"/>
    <p:sldId id="520" r:id="rId44"/>
    <p:sldId id="521" r:id="rId45"/>
    <p:sldId id="522" r:id="rId46"/>
    <p:sldId id="523" r:id="rId47"/>
    <p:sldId id="457" r:id="rId48"/>
    <p:sldId id="524" r:id="rId49"/>
    <p:sldId id="525" r:id="rId50"/>
    <p:sldId id="526" r:id="rId51"/>
    <p:sldId id="531" r:id="rId52"/>
    <p:sldId id="527" r:id="rId53"/>
    <p:sldId id="528" r:id="rId54"/>
    <p:sldId id="532" r:id="rId55"/>
    <p:sldId id="533" r:id="rId56"/>
    <p:sldId id="529" r:id="rId57"/>
    <p:sldId id="530" r:id="rId58"/>
    <p:sldId id="534" r:id="rId59"/>
    <p:sldId id="535" r:id="rId60"/>
    <p:sldId id="536" r:id="rId61"/>
    <p:sldId id="537" r:id="rId62"/>
    <p:sldId id="539" r:id="rId63"/>
    <p:sldId id="540" r:id="rId64"/>
    <p:sldId id="430" r:id="rId65"/>
    <p:sldId id="541" r:id="rId66"/>
    <p:sldId id="542" r:id="rId67"/>
    <p:sldId id="543" r:id="rId68"/>
    <p:sldId id="345" r:id="rId6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19D2"/>
    <a:srgbClr val="E71D3A"/>
    <a:srgbClr val="E0E509"/>
    <a:srgbClr val="F735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5033" autoAdjust="0"/>
  </p:normalViewPr>
  <p:slideViewPr>
    <p:cSldViewPr snapToGrid="0">
      <p:cViewPr varScale="1">
        <p:scale>
          <a:sx n="85" d="100"/>
          <a:sy n="85" d="100"/>
        </p:scale>
        <p:origin x="590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E7196-0A1D-43F9-96F8-6131A8C3E5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91A347-14E4-4DA6-8466-E20F5DD0C1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25BB59-6C06-4608-B9C2-AFD556E0E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24-08-2026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024737-A7EA-405D-9C53-00DC76358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AFCA8F-5152-4E17-A634-AAC30C0A1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9389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97697-0E3B-45DE-993E-41D6192C5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F5D431-817D-468E-AC74-4AEFB8C24B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E66076-D71B-432E-B3DA-D6BFA8E70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24-08-2026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E9EAE1-A891-420F-AABF-E5D357075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050AF0-4B82-4D90-9977-2702EFAD0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8037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76000-B1F3-49B4-8840-4F2FE09F3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9AD8B6-0C53-47EB-9E27-9A8CFF9C0D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4A0F0A-5BC1-44A8-A937-DAAFBEA3C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24-08-2026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16B7DB-3DF3-4E87-84F1-6D3BB836F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586888-F8BA-4159-BE04-8C9B0A74B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1180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1BC13-A691-4A44-8F09-DEAB94E6E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0470BA-CF69-482F-86D7-B3B2B81039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EF3F02-F9D9-4D4B-932D-10D3C70151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54D0B3-961E-4BAC-9CA4-08D89CF82A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24-08-2026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D4364F-C564-48E4-84D0-352B17CE6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B6F2F7-150E-4C49-B6B7-8E72E6E8E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1502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61F13-E7B0-4450-891A-12D3F0031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070134-48F1-45F0-9C63-38634B426A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F6F59C-8B0A-4097-8A5D-BA9FB1FC2E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0E4A01-83B3-465C-B056-C028FF594C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DF7CD2-C62B-450F-A438-929A17296D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13DBE79-A9B6-48AB-9F01-88AA6A05B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24-08-2026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A1A849-F61D-416C-82D9-FD2F0D5B2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4E5968-BD8E-49EA-B1C0-883FDCD51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42830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5C0C5-C1DF-4B30-86BF-702058A09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980EB2-6319-452D-816A-655EE9C34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24-08-2026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847E02-77DD-4F7C-9461-431051F30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B48EC9-FFDF-4F14-A006-9ED08C221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5135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AC4010-3CC3-4ED9-BC47-437A2B958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24-08-2026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0484C3-38E2-44A7-AD87-98DF739A7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07CE2B-838A-454A-852B-8EAFFA5BC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0888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18C39-136A-490F-82E6-B74F16102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4E3FA5-A6D0-407B-9353-45807BDC70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65529D-8A1D-4CEC-ACF2-A9668B5DFA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1B61FA-7B4A-49EE-9F1B-8F14E749E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24-08-2026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6BDBE7-EB71-426C-8E02-2F39733F7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714907-13EA-4E79-8417-0EC5E502E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7483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C4529-7C3C-4D10-AD9C-86CB67D2B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173FF7-1E37-47DA-BCCB-AFDD0F6F84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C43DAF-8DA8-48F8-B118-56B11692BF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DBE107-EEF1-4F60-8BFB-A0B8F32EF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24-08-2026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B2FC9C-1AB4-400D-8A60-C7B3A8058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25E51E-1606-443F-8DDC-5BC7A3D91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56989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81B9E-9443-4F41-8CDB-8E6E4CF27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37440A-C0A0-4620-8CB7-BC24F4E100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ECDE26-EE92-4514-B595-DD288D69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24-08-2026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B18649-6317-4A86-BF87-6BCCFA208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9FA2ED-B0E3-48EA-BF01-F14C24A36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62705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195C72-B502-4011-AB72-4BBC7CCE94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A45A48-60F9-47B3-9E1A-0E76EE6ED6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C2F640-11BE-4566-9603-D1D7F7E96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24-08-2026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45CB06-5043-4F88-9848-829BAD7A0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693EAC-3ADD-4236-B7D3-0540B8D65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0687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435DF9-745D-444C-9DD7-A6DD954688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A09DCF-D326-45B4-9E4E-070E325317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80EC5D-D4D0-42B9-9170-212F1B335C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17A1C5-95F7-4229-A93B-29F7FF3DA000}" type="datetimeFigureOut">
              <a:rPr lang="en-IN" smtClean="0"/>
              <a:pPr/>
              <a:t>24-08-2026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7E3022-2659-46A1-A7BE-9894421E21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EAFC63-250A-46C7-8FC2-85F3F3181D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1426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1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3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3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5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38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7" Type="http://schemas.openxmlformats.org/officeDocument/2006/relationships/image" Target="../media/image4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38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png"/><Relationship Id="rId4" Type="http://schemas.openxmlformats.org/officeDocument/2006/relationships/image" Target="../media/image44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9.png"/><Relationship Id="rId4" Type="http://schemas.openxmlformats.org/officeDocument/2006/relationships/image" Target="../media/image47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0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0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png"/><Relationship Id="rId4" Type="http://schemas.openxmlformats.org/officeDocument/2006/relationships/image" Target="../media/image56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9.png"/><Relationship Id="rId4" Type="http://schemas.openxmlformats.org/officeDocument/2006/relationships/image" Target="../media/image57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0.png"/><Relationship Id="rId4" Type="http://schemas.openxmlformats.org/officeDocument/2006/relationships/image" Target="../media/image57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1.png"/><Relationship Id="rId4" Type="http://schemas.openxmlformats.org/officeDocument/2006/relationships/image" Target="../media/image57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2.png"/><Relationship Id="rId4" Type="http://schemas.openxmlformats.org/officeDocument/2006/relationships/image" Target="../media/image57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3.png"/><Relationship Id="rId4" Type="http://schemas.openxmlformats.org/officeDocument/2006/relationships/image" Target="../media/image57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4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7.png"/><Relationship Id="rId4" Type="http://schemas.openxmlformats.org/officeDocument/2006/relationships/image" Target="../media/image65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8.png"/><Relationship Id="rId4" Type="http://schemas.openxmlformats.org/officeDocument/2006/relationships/image" Target="../media/image65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9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0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1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2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3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4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5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6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7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8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9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0.png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DFE3490-CF8C-4FDE-9D71-2170861F2A61}"/>
              </a:ext>
            </a:extLst>
          </p:cNvPr>
          <p:cNvSpPr/>
          <p:nvPr/>
        </p:nvSpPr>
        <p:spPr>
          <a:xfrm>
            <a:off x="4685111" y="2813812"/>
            <a:ext cx="558018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accent2">
                    <a:lumMod val="75000"/>
                  </a:schemeClr>
                </a:solidFill>
              </a:rPr>
              <a:t>Quantum Entanglement and Quantum Computing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85D8B7B-5B60-4808-A096-FB24198F96E9}"/>
              </a:ext>
            </a:extLst>
          </p:cNvPr>
          <p:cNvSpPr/>
          <p:nvPr/>
        </p:nvSpPr>
        <p:spPr>
          <a:xfrm>
            <a:off x="4781916" y="4415503"/>
            <a:ext cx="700078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Dr. Kaustav Bhowmick</a:t>
            </a:r>
            <a:endParaRPr lang="en-IN" sz="2400" b="1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43662B4-0C28-4203-AEB1-4CC1644B8226}"/>
              </a:ext>
            </a:extLst>
          </p:cNvPr>
          <p:cNvSpPr/>
          <p:nvPr/>
        </p:nvSpPr>
        <p:spPr>
          <a:xfrm>
            <a:off x="4781916" y="4813108"/>
            <a:ext cx="403769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Electronics &amp; Communication </a:t>
            </a:r>
          </a:p>
          <a:p>
            <a:r>
              <a:rPr lang="en-US" sz="2400" dirty="0"/>
              <a:t>Engineering</a:t>
            </a:r>
            <a:endParaRPr lang="en-IN" sz="2400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7008925-27BE-4F37-8F3C-D51A4CE1017D}"/>
              </a:ext>
            </a:extLst>
          </p:cNvPr>
          <p:cNvGrpSpPr/>
          <p:nvPr/>
        </p:nvGrpSpPr>
        <p:grpSpPr>
          <a:xfrm>
            <a:off x="313844" y="5489699"/>
            <a:ext cx="1066895" cy="1078155"/>
            <a:chOff x="313844" y="5489699"/>
            <a:chExt cx="1066895" cy="1078155"/>
          </a:xfrm>
          <a:solidFill>
            <a:schemeClr val="accent2">
              <a:lumMod val="75000"/>
            </a:schemeClr>
          </a:solidFill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D05F1195-3C1E-433F-AC45-B08B7F507642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4DA4F79B-7A52-499C-A65E-A51F3EDF5C3E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EEB87D2-BD33-43D4-B135-6F0E91C4917A}"/>
              </a:ext>
            </a:extLst>
          </p:cNvPr>
          <p:cNvCxnSpPr>
            <a:cxnSpLocks/>
          </p:cNvCxnSpPr>
          <p:nvPr/>
        </p:nvCxnSpPr>
        <p:spPr>
          <a:xfrm flipV="1">
            <a:off x="4781916" y="4112436"/>
            <a:ext cx="4581449" cy="1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A close up of a logo&#10;&#10;Description automatically generated">
            <a:extLst>
              <a:ext uri="{FF2B5EF4-FFF2-40B4-BE49-F238E27FC236}">
                <a16:creationId xmlns:a16="http://schemas.microsoft.com/office/drawing/2014/main" id="{66C7B340-EC4A-4D32-8643-325F1D66DF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6704" y="1653906"/>
            <a:ext cx="2369218" cy="3550188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87008925-27BE-4F37-8F3C-D51A4CE1017D}"/>
              </a:ext>
            </a:extLst>
          </p:cNvPr>
          <p:cNvGrpSpPr/>
          <p:nvPr/>
        </p:nvGrpSpPr>
        <p:grpSpPr>
          <a:xfrm rot="10800000">
            <a:off x="10855702" y="266068"/>
            <a:ext cx="1066895" cy="1078155"/>
            <a:chOff x="313844" y="5489699"/>
            <a:chExt cx="1066895" cy="1078155"/>
          </a:xfrm>
          <a:solidFill>
            <a:schemeClr val="accent2">
              <a:lumMod val="75000"/>
            </a:schemeClr>
          </a:solidFill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D05F1195-3C1E-433F-AC45-B08B7F507642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DA4F79B-7A52-499C-A65E-A51F3EDF5C3E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1300290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DFE3490-CF8C-4FDE-9D71-2170861F2A61}"/>
              </a:ext>
            </a:extLst>
          </p:cNvPr>
          <p:cNvSpPr/>
          <p:nvPr/>
        </p:nvSpPr>
        <p:spPr>
          <a:xfrm>
            <a:off x="313843" y="1311319"/>
            <a:ext cx="778225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cap="all" dirty="0"/>
              <a:t>Quantum Entanglement and Quantum Computing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4CEFAD4-E477-4E46-B5A6-ADB26E6A2863}"/>
              </a:ext>
            </a:extLst>
          </p:cNvPr>
          <p:cNvSpPr/>
          <p:nvPr/>
        </p:nvSpPr>
        <p:spPr>
          <a:xfrm>
            <a:off x="598883" y="2888778"/>
            <a:ext cx="749721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Introduction to Topic</a:t>
            </a:r>
            <a:endParaRPr lang="en-IN"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85D8B7B-5B60-4808-A096-FB24198F96E9}"/>
              </a:ext>
            </a:extLst>
          </p:cNvPr>
          <p:cNvSpPr/>
          <p:nvPr/>
        </p:nvSpPr>
        <p:spPr>
          <a:xfrm>
            <a:off x="598883" y="5316267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Dr. Kaustav Bhowmick</a:t>
            </a:r>
            <a:endParaRPr lang="en-IN" sz="2400" b="1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43662B4-0C28-4203-AEB1-4CC1644B8226}"/>
              </a:ext>
            </a:extLst>
          </p:cNvPr>
          <p:cNvSpPr/>
          <p:nvPr/>
        </p:nvSpPr>
        <p:spPr>
          <a:xfrm>
            <a:off x="598883" y="5669412"/>
            <a:ext cx="749721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Electronics &amp; Communication Engineering</a:t>
            </a:r>
            <a:endParaRPr lang="en-IN" sz="2000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7008925-27BE-4F37-8F3C-D51A4CE1017D}"/>
              </a:ext>
            </a:extLst>
          </p:cNvPr>
          <p:cNvGrpSpPr/>
          <p:nvPr/>
        </p:nvGrpSpPr>
        <p:grpSpPr>
          <a:xfrm>
            <a:off x="313844" y="5489699"/>
            <a:ext cx="1066895" cy="1078155"/>
            <a:chOff x="313844" y="5489699"/>
            <a:chExt cx="1066895" cy="1078155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D05F1195-3C1E-433F-AC45-B08B7F507642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4DA4F79B-7A52-499C-A65E-A51F3EDF5C3E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D6B6443-C2DA-47C3-A986-5EE935046CC9}"/>
              </a:ext>
            </a:extLst>
          </p:cNvPr>
          <p:cNvCxnSpPr>
            <a:cxnSpLocks/>
          </p:cNvCxnSpPr>
          <p:nvPr/>
        </p:nvCxnSpPr>
        <p:spPr>
          <a:xfrm flipV="1">
            <a:off x="0" y="2596822"/>
            <a:ext cx="7904054" cy="68537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close up of a logo&#10;&#10;Description automatically generated">
            <a:extLst>
              <a:ext uri="{FF2B5EF4-FFF2-40B4-BE49-F238E27FC236}">
                <a16:creationId xmlns:a16="http://schemas.microsoft.com/office/drawing/2014/main" id="{6727F4C1-5802-414C-BEF9-8F8DC7D7B65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4905CC0-9088-4B13-B9F7-4D85FD808B63}"/>
              </a:ext>
            </a:extLst>
          </p:cNvPr>
          <p:cNvSpPr txBox="1"/>
          <p:nvPr/>
        </p:nvSpPr>
        <p:spPr>
          <a:xfrm>
            <a:off x="598883" y="6114890"/>
            <a:ext cx="24775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rgbClr val="7030A0"/>
                </a:solidFill>
              </a:rPr>
              <a:t>Source: Google images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9D7333F-4816-037D-79E5-447EF625AB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15128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598883" y="703011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Contents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D148C88-3676-DBDB-0D6B-5C1AEB0D5EF6}"/>
              </a:ext>
            </a:extLst>
          </p:cNvPr>
          <p:cNvSpPr txBox="1"/>
          <p:nvPr/>
        </p:nvSpPr>
        <p:spPr>
          <a:xfrm>
            <a:off x="737117" y="1613171"/>
            <a:ext cx="7389845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altLang="en-US" sz="2800" dirty="0"/>
              <a:t>Basis vectors and change of basis</a:t>
            </a:r>
          </a:p>
          <a:p>
            <a:pPr>
              <a:spcBef>
                <a:spcPct val="5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altLang="en-US" sz="2800" dirty="0"/>
              <a:t> Quantum computational Basis states</a:t>
            </a:r>
          </a:p>
        </p:txBody>
      </p:sp>
    </p:spTree>
    <p:extLst>
      <p:ext uri="{BB962C8B-B14F-4D97-AF65-F5344CB8AC3E}">
        <p14:creationId xmlns:p14="http://schemas.microsoft.com/office/powerpoint/2010/main" val="36332794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Basis vector and change of basis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E6FCCFB-A762-4032-810A-EFD0B459BF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747" y="1519354"/>
            <a:ext cx="6611751" cy="4842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2458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3D65057-EBCC-6390-70EA-E3AB97BB1C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813" y="1424618"/>
            <a:ext cx="6795329" cy="485105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8102E76-D335-018E-C3EA-737BE7BD119E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Basis vector and change of basis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06110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EDE6ECF-BD7B-D4BF-E349-387286FCFE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710" y="1809609"/>
            <a:ext cx="5418290" cy="323878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601C5D3-7800-94D9-9526-E3EBE6FC78E8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Basis vector and change of basis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89730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D3D2F35-0749-559B-DAB7-EF1946F191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882" y="1622419"/>
            <a:ext cx="5708611" cy="478436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7DAA63E-72C3-3316-4554-45FF36804109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Basis vector and change of basis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48191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1BD403A-5C25-25E7-8443-3F17363C3F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6896" y="1620709"/>
            <a:ext cx="5768632" cy="4397536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A7A1020-C496-8DF6-A863-A47D40422E96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Basis vector and change of basis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25811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6EAA4DE-55EA-DF19-9BE3-856707EB3F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880" y="1645912"/>
            <a:ext cx="7008634" cy="480984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C6562E1-A5A8-7F2F-8482-61350ED8DE4F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Basis vector and change of basis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91710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8BD2CBF-A0EC-984F-5F69-7CB038C6BE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883" y="1605804"/>
            <a:ext cx="6884268" cy="4714114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407A7E9-F7BC-D34D-6D71-3B1DD7CB823A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Basis vector and change of basis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71344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1DE5D3C-C8E3-4ACA-B138-D9BA5B8DC0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884" y="1725617"/>
            <a:ext cx="6390307" cy="4396673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636B160-546D-CD86-6860-A7A67E77D307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Basis vector and change of basis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45369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994F55C-F2AF-2814-4A24-FB33F9FA67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8287" y="1519354"/>
            <a:ext cx="6947500" cy="482546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27344F2-203C-91B8-4920-558F7F4F2EF3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Basis vector and change of basis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65117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0A92F56-256E-4160-D192-6CF49E02B9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399" y="1519354"/>
            <a:ext cx="6393777" cy="452733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EB4B9F1-A71D-AB53-60EB-5063DE44022C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Basis vector and change of basis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36958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87211A7-4F0F-06AF-F9D5-E6D1A11032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865" y="1519353"/>
            <a:ext cx="6096764" cy="473579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6280EA9-2377-32F7-1DA3-0158DD72B095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Basis vector and change of basis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95335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Basis algebra and change of basis: Spanning set example 1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3676712-58E2-EA5F-028F-978A1A7EB88B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818970" y="1519354"/>
            <a:ext cx="4153260" cy="807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124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42912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3676712-58E2-EA5F-028F-978A1A7EB88B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818970" y="1519354"/>
            <a:ext cx="4153260" cy="80779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2A9D8AB-087F-D0AA-E8BE-63244787F810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818970" y="2732381"/>
            <a:ext cx="8024555" cy="359695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DC1DBCD-4384-7ECF-969F-FE999A675FBE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Basis algebra and change of basis: Spanning set example 1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83729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3676712-58E2-EA5F-028F-978A1A7EB88B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818970" y="1519354"/>
            <a:ext cx="4153260" cy="80779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B2E562D-9B39-014C-46C0-4B0133EE7729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Basis algebra and change of basis: Spanning set example 1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D727320-B856-676E-2550-9D8F8B6D18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261" y="2448207"/>
            <a:ext cx="8030696" cy="297221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8D2B502-3711-E129-05D2-B7C18B556417}"/>
              </a:ext>
            </a:extLst>
          </p:cNvPr>
          <p:cNvSpPr txBox="1"/>
          <p:nvPr/>
        </p:nvSpPr>
        <p:spPr>
          <a:xfrm>
            <a:off x="591261" y="5541485"/>
            <a:ext cx="9427236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i="1" dirty="0">
                <a:solidFill>
                  <a:srgbClr val="FF0000"/>
                </a:solidFill>
              </a:rPr>
              <a:t>The determinant is a single number that summarizes a square matrix. It tells you if a matrix has an inverse, how much it scales space, and helps solve equations.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A determinant of zero means the matrix cannot be inverted. It collapses space into a flat line or plane.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The absolute value of the determinant shows the factor by which area (in 2D) or volume (in 3D) changes. A negative sign indicates that the orientation of space is flipped or reversed.</a:t>
            </a:r>
          </a:p>
        </p:txBody>
      </p:sp>
    </p:spTree>
    <p:extLst>
      <p:ext uri="{BB962C8B-B14F-4D97-AF65-F5344CB8AC3E}">
        <p14:creationId xmlns:p14="http://schemas.microsoft.com/office/powerpoint/2010/main" val="21180966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266F77B-0BD6-A31D-3E7D-5AF86D045C78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702494" y="1517758"/>
            <a:ext cx="5707875" cy="56392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7C392F2-9378-0848-D4BA-28344B08D750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Basis algebra and change of basis: Spanning set example 2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03697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266F77B-0BD6-A31D-3E7D-5AF86D045C78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702494" y="1517758"/>
            <a:ext cx="5707875" cy="56392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52BDD69-9E10-4283-1FD8-246C92C7EC03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702494" y="2296629"/>
            <a:ext cx="5837426" cy="28196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F3C0A2A-B743-BF04-4EB4-F226F58A8371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Basis algebra and change of basis: Spanning set example 2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67734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266F77B-0BD6-A31D-3E7D-5AF86D045C78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702494" y="1517758"/>
            <a:ext cx="5707875" cy="56392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3A1B108-567F-A839-55B3-B3D46EA20911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Basis algebra and change of basis: Spanning set example 2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81815B9-5FA9-26B4-AE65-B1AA1211EA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9717" y="2487418"/>
            <a:ext cx="5877745" cy="3372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90863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266F77B-0BD6-A31D-3E7D-5AF86D045C78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702494" y="1517758"/>
            <a:ext cx="5707875" cy="56392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B8DFD96-0FD0-1B4F-C50F-FBCCB35932FE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370298" y="2127381"/>
            <a:ext cx="4601294" cy="4464386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522C2A4-C327-F01E-66CE-3C2D2D6CCCC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Basis algebra and change of basis: Spanning set example 2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2602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9A4A254-876A-561D-4863-C402FF8765E0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870470" y="1465568"/>
            <a:ext cx="5319221" cy="105165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7D98966-9DF9-22E6-A92E-9DEC9D4E935B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Basis algebra and change of basis: Spanning set example 3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8021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9A4A254-876A-561D-4863-C402FF8765E0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870470" y="1465568"/>
            <a:ext cx="5319221" cy="105165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8005648-3D55-56D0-5906-FF47698A7E49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870470" y="2586381"/>
            <a:ext cx="5319221" cy="3997294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15A6EA5-B38F-9F91-8AAC-2648FDA7FEEB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Basis algebra and change of basis: Spanning set example 3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49809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05E64A6-0948-6D9E-E963-DE34B0FC2B32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85865" y="1627309"/>
            <a:ext cx="5669771" cy="25148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6FC5475-7D9D-6160-15A8-03B01D0F62E1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Basis algebra and change of basis: Spanning set example 4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74403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05E64A6-0948-6D9E-E963-DE34B0FC2B32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85865" y="1627309"/>
            <a:ext cx="5669771" cy="25148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3BCCA12-58C9-4F6F-2E37-E0F4B61A3911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931938" y="2390247"/>
            <a:ext cx="5715495" cy="230143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97D01E3-DAA2-EF6B-4841-FC7A3F8C0B55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Basis algebra and change of basis: Spanning set example 4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34454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17470FD-BCA1-E9FF-8581-4CE579DD61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750" y="1441554"/>
            <a:ext cx="5761219" cy="23700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88D8BA4-2CCD-B121-181B-99FA002F93C0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973105" y="4455756"/>
            <a:ext cx="8267700" cy="8763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BD923BB-3304-5ACB-0AE1-3F86E07A4033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Basis algebra and change of basis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80443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42912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2BDCADC-1C6E-EC69-E174-B99427FC35FD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803526" y="1519354"/>
            <a:ext cx="3475021" cy="36579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B2A345F-29FC-730D-ACAA-A9712BD10252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Basis algebra and change of basis: Spanning set example 5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190826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2BDCADC-1C6E-EC69-E174-B99427FC35FD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803526" y="1519354"/>
            <a:ext cx="3475021" cy="36579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974072A-8A57-DBB1-493D-DFC4A61B7E91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803526" y="2317960"/>
            <a:ext cx="5906012" cy="3528366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7BDB963-64A6-1806-43CE-50E1BC1CB9BC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Basis algebra and change of basis: Spanning set example 5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2423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8FD663E-CA71-8F3A-13E2-E70DE8E4C6F0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Basis algebra and change of basis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2FB75F-A935-A12D-0BC2-CF4A08A32F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990" y="1344079"/>
            <a:ext cx="1226926" cy="3505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2FA22AD-7C82-B7BB-FB0C-DADDBBBEF9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3948" y="1878791"/>
            <a:ext cx="6454699" cy="4115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628267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8FD663E-CA71-8F3A-13E2-E70DE8E4C6F0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Basis algebra and change of basis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38362F1-59CE-BAF9-5CF7-38A07554E2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883" y="1415595"/>
            <a:ext cx="1226926" cy="3505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0A2F84C-D293-2266-8F91-DF34FF2965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754" y="1766145"/>
            <a:ext cx="7316009" cy="489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82108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8FD663E-CA71-8F3A-13E2-E70DE8E4C6F0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Basis algebra and change of basis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B0C875-20DA-FA6B-10D0-FA797416A9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699" y="1496426"/>
            <a:ext cx="7847045" cy="527200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08A38CD-782A-1F85-92AF-05E0BCA179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883" y="1415595"/>
            <a:ext cx="1226926" cy="350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49329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8FD663E-CA71-8F3A-13E2-E70DE8E4C6F0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Basis algebra and change of basis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92FC83-05AA-1E27-ACCF-24BD881FBF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223" y="1737011"/>
            <a:ext cx="6538527" cy="267485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9BEE7F5-5D93-B11D-0069-CE0F2717F7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883" y="1415595"/>
            <a:ext cx="1226926" cy="350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872527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8FD663E-CA71-8F3A-13E2-E70DE8E4C6F0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Basis algebra and change of basis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A8CE11F-E737-2D9C-5E49-9AF9EBE9CE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144" y="1480199"/>
            <a:ext cx="1745131" cy="38865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516CDEC-3F32-B9B0-782F-B57009F746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7375" y="2330922"/>
            <a:ext cx="6584251" cy="2751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389697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8FD663E-CA71-8F3A-13E2-E70DE8E4C6F0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Basis algebra and change of basis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CA0A91B-0348-439A-3BC2-7FF57192C9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144" y="1480199"/>
            <a:ext cx="1745131" cy="38865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BCCA970-8D29-C1F3-825A-DC63D6AA4C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110" y="2442381"/>
            <a:ext cx="6645216" cy="3223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325750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8FD663E-CA71-8F3A-13E2-E70DE8E4C6F0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Basis algebra and change of basis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123A82-8653-D40E-96FB-636752D411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957" y="1595135"/>
            <a:ext cx="3909399" cy="4038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FEA4A96-A3E6-E042-2D84-8EB9EF7F49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13" y="2485657"/>
            <a:ext cx="6569009" cy="3055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914054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8FD663E-CA71-8F3A-13E2-E70DE8E4C6F0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Basis algebra and change of basis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C9198D-2FF3-AE00-2EBF-232E01F226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957" y="1595135"/>
            <a:ext cx="3909399" cy="40389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62D4331-48FD-0716-F68E-31980D782A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14346" y="2277706"/>
            <a:ext cx="4314825" cy="407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187444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8FD663E-CA71-8F3A-13E2-E70DE8E4C6F0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Basis algebra and change of basis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5D43456-5689-F7FB-58BD-B991AD8506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957" y="1595135"/>
            <a:ext cx="3909399" cy="40389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CD64D4A-EA7C-B023-9ABB-8EBBC877C8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4957" y="2106815"/>
            <a:ext cx="6576630" cy="2644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A4CC103-AC68-DC54-C0E0-F06053F81D2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73011" y="3874808"/>
            <a:ext cx="2913881" cy="272040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D0F2E30-2541-673B-65E0-11BBCA733F1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50363" y="4979632"/>
            <a:ext cx="3330229" cy="1615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7775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8FD663E-CA71-8F3A-13E2-E70DE8E4C6F0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Basis algebra and change of basis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41AE51-77D0-8A86-9E9E-6C89ED8F41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883" y="1519354"/>
            <a:ext cx="1417443" cy="32768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2E5695D-0C5A-C085-0A5E-E204361D7D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60497" y="1780610"/>
            <a:ext cx="5492185" cy="4851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518408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8FD663E-CA71-8F3A-13E2-E70DE8E4C6F0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Basis algebra and change of basis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3206730-81CD-A1A1-C0C6-3FAA66B895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883" y="1519354"/>
            <a:ext cx="1417443" cy="32768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8C22D4A-E477-6A6B-09DD-2752924A49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83342" y="1878791"/>
            <a:ext cx="5969180" cy="4825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499846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8FD663E-CA71-8F3A-13E2-E70DE8E4C6F0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Basis algebra and change of basis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EEF7C5-B322-1CFF-5B4F-CA41FF8BC8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904" y="1514689"/>
            <a:ext cx="4625741" cy="29720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40316A6-2C9F-68FC-850E-6A90DE104A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7375" y="1999030"/>
            <a:ext cx="6607113" cy="4732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892426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8FD663E-CA71-8F3A-13E2-E70DE8E4C6F0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Basis algebra and change of basis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06787B-17CC-21F6-AA53-F00D14258E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904" y="1514689"/>
            <a:ext cx="4625741" cy="29720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B5CC36F-2EAE-BE01-603D-133EE814C7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4904" y="2464358"/>
            <a:ext cx="6607113" cy="3741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01475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8FD663E-CA71-8F3A-13E2-E70DE8E4C6F0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Basis algebra and change of basis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E832AC-C16F-725D-F030-C3D60D8B55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06" y="1512999"/>
            <a:ext cx="4351397" cy="36579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4EB2403-4720-ABE1-8044-CC305262AD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782" y="1999030"/>
            <a:ext cx="6090131" cy="4739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298968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8FD663E-CA71-8F3A-13E2-E70DE8E4C6F0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Basis algebra and change of basis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F019DF3-7E88-D961-06EA-26B1FE646B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06" y="1512999"/>
            <a:ext cx="4351397" cy="36579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8557D38-FCDB-E655-4AA9-B44E4C8C8E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306" y="2075331"/>
            <a:ext cx="6530906" cy="61727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05C27F3-4DDB-5464-D186-A5B42373469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72042" y="2942177"/>
            <a:ext cx="4799434" cy="3837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021947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8FD663E-CA71-8F3A-13E2-E70DE8E4C6F0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Basis algebra and change of basis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E907EDA-A7FD-FFC1-CEEB-1FA51C0348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06" y="1512999"/>
            <a:ext cx="4351397" cy="36579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04B190D-7A4F-0919-2805-6B2F5E800A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306" y="1892537"/>
            <a:ext cx="6721422" cy="96020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21D1DD2-A277-250A-3BB8-133F03004A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69744" y="2624587"/>
            <a:ext cx="6522000" cy="4043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754110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8FD663E-CA71-8F3A-13E2-E70DE8E4C6F0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Basis algebra and change of basis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E336D2-0ABA-9921-5DA4-48DCE5EF78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880" y="2668456"/>
            <a:ext cx="4648603" cy="228619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B398FCB-FE93-7DCC-AF01-63D1E2A97A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306" y="1512999"/>
            <a:ext cx="4351397" cy="36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16273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8FD663E-CA71-8F3A-13E2-E70DE8E4C6F0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Basis algebra and change of basis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7A27BD5-5DCD-037C-3DA2-30D9842EDF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883" y="1477366"/>
            <a:ext cx="2956816" cy="4038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63F55EE-8801-6DC8-A33B-3AA4AA665A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9324" y="1999030"/>
            <a:ext cx="5543813" cy="4716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98521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42912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19166F6-07B0-49C1-3118-F05E8ABC9E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883" y="1477366"/>
            <a:ext cx="2956816" cy="40389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8553FB6-91FA-32DA-57AB-820409B563A1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Basis algebra and change of basis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7DD784-923B-278D-01A6-2217C717B7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0073" y="2128340"/>
            <a:ext cx="6443371" cy="4188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674547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19166F6-07B0-49C1-3118-F05E8ABC9E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883" y="1477366"/>
            <a:ext cx="2956816" cy="40389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5F4C93D-58BA-D57E-0191-191E8BA3BBA8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Basis algebra and change of basis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DFFBFC-EF14-5DA3-B94C-3EBCC2B1BC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5739" y="2042168"/>
            <a:ext cx="8486775" cy="409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268915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19166F6-07B0-49C1-3118-F05E8ABC9E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883" y="1477366"/>
            <a:ext cx="2956816" cy="40389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DD4B64C-CEF4-E899-08F4-452945C3FD9A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Basis algebra and change of basis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2D79E9-B897-EEAE-05BE-D4237AAB88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883" y="2350690"/>
            <a:ext cx="6050804" cy="3612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04783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C5E403D-10BF-8F37-EB75-BAB41B21A573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Basis algebra and change of basis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25E801A-6BB0-1DBB-D497-3F2348E0BB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883" y="1477366"/>
            <a:ext cx="2956816" cy="4038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3950825-5DF7-8B4A-BD26-8F58F173B3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3237" y="1904913"/>
            <a:ext cx="4682763" cy="4863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48580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C5E403D-10BF-8F37-EB75-BAB41B21A573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Basis algebra and change of basis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25E801A-6BB0-1DBB-D497-3F2348E0BB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883" y="1477366"/>
            <a:ext cx="2956816" cy="40389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E8D0F41-6FC0-3FE7-C885-50CE597A3E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305" y="2081687"/>
            <a:ext cx="6576630" cy="3414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42744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C5E403D-10BF-8F37-EB75-BAB41B21A573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Basis algebra and change of basis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624BE01-3841-A097-4CFA-7029750DF9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914" y="1431325"/>
            <a:ext cx="6767146" cy="5189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63496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C5E403D-10BF-8F37-EB75-BAB41B21A573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Basis algebra and change of basis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B867EF-254A-781A-4F9D-66374AA4BC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258" y="1519354"/>
            <a:ext cx="3330229" cy="3810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71C89B7-2985-A8FE-0A53-E1127B18D6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258" y="2181421"/>
            <a:ext cx="6805250" cy="3558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234809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C5E403D-10BF-8F37-EB75-BAB41B21A573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Basis algebra and change of basis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B867EF-254A-781A-4F9D-66374AA4BC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258" y="1519354"/>
            <a:ext cx="3330229" cy="38103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32B6B78-CC39-1B95-0958-C9A8940383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5698" y="1999030"/>
            <a:ext cx="4818763" cy="4671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667710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C5E403D-10BF-8F37-EB75-BAB41B21A573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Basis algebra and change of basis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B867EF-254A-781A-4F9D-66374AA4BC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258" y="1519354"/>
            <a:ext cx="3330229" cy="38103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D3EE2FC-E2BA-C297-D7DD-9654046B74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1011" y="1900387"/>
            <a:ext cx="6221414" cy="4764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217963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C5E403D-10BF-8F37-EB75-BAB41B21A573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Basis algebra and change of basis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AEAD97-50C9-561E-5477-FE6CE1CE21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905" y="1639695"/>
            <a:ext cx="7675707" cy="2667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583262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C5E403D-10BF-8F37-EB75-BAB41B21A573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Basis algebra and change of basis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D048D71-58D0-1B64-56D0-43A35AD508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3470" y="1551812"/>
            <a:ext cx="5288628" cy="5041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654266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C5E403D-10BF-8F37-EB75-BAB41B21A573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Basis algebra and change of basis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E22EA0-3116-97E8-B388-16B159FF0F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085" y="1719575"/>
            <a:ext cx="6492803" cy="3101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443572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C5E403D-10BF-8F37-EB75-BAB41B21A573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Basis algebra and change of basis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D04CA8-0A02-BFDE-B357-C2D0072FE1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971" y="1502559"/>
            <a:ext cx="6820491" cy="5265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747520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C5E403D-10BF-8F37-EB75-BAB41B21A573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Basis algebra and change of basis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0417730-AB6C-2F74-1308-FA123604D0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6412" y="1390260"/>
            <a:ext cx="6256562" cy="5451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80875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C5E403D-10BF-8F37-EB75-BAB41B21A573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Basis algebra and change of basis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A5B431-B89F-3063-3CA5-67834A2C34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869" y="1573369"/>
            <a:ext cx="6675698" cy="3711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253557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C5E403D-10BF-8F37-EB75-BAB41B21A573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Basis algebra and change of basis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F3DECD-11D4-393E-698D-F3016172EE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7066" y="1620522"/>
            <a:ext cx="6744284" cy="4755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875282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C5E403D-10BF-8F37-EB75-BAB41B21A573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Basis algebra and change of basis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32C137-70D5-EF3E-7CAA-A3B80BCF9C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0051" y="1786747"/>
            <a:ext cx="6729043" cy="3284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079539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Quantum computational Basis states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7A9878D-46F2-3CBD-46BB-269EC050EA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895" y="1720558"/>
            <a:ext cx="7315834" cy="3734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20899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Quantum computational Basis states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9F2B9B3-E888-E8CB-3D34-A71CCD2A7B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2758" y="1561673"/>
            <a:ext cx="5308547" cy="4833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723111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Quantum computational Basis states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1EA7355-9F14-B47A-49A3-FF8AE61555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446" y="1613923"/>
            <a:ext cx="7155800" cy="4488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42649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Quantum computational Basis states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6F4B650-4B17-28FC-F17C-1AC1C785B3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927" y="1519354"/>
            <a:ext cx="7331075" cy="5296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90395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473B520-A9D1-472D-B234-C4032DD0E596}"/>
              </a:ext>
            </a:extLst>
          </p:cNvPr>
          <p:cNvCxnSpPr>
            <a:cxnSpLocks/>
          </p:cNvCxnSpPr>
          <p:nvPr/>
        </p:nvCxnSpPr>
        <p:spPr>
          <a:xfrm flipV="1">
            <a:off x="5448168" y="2887307"/>
            <a:ext cx="4581449" cy="1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EC43E8D5-98D6-4BA6-B3EA-B5411DA566A9}"/>
              </a:ext>
            </a:extLst>
          </p:cNvPr>
          <p:cNvSpPr/>
          <p:nvPr/>
        </p:nvSpPr>
        <p:spPr>
          <a:xfrm>
            <a:off x="5448168" y="4660168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kaustavbhowmick@pes.edu</a:t>
            </a:r>
            <a:endParaRPr lang="en-IN" sz="2400" b="1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B436274-E913-46F7-B58F-E0B0713EC594}"/>
              </a:ext>
            </a:extLst>
          </p:cNvPr>
          <p:cNvGrpSpPr/>
          <p:nvPr/>
        </p:nvGrpSpPr>
        <p:grpSpPr>
          <a:xfrm>
            <a:off x="313844" y="349466"/>
            <a:ext cx="11518407" cy="6218388"/>
            <a:chOff x="313844" y="349466"/>
            <a:chExt cx="11518407" cy="6218388"/>
          </a:xfrm>
          <a:solidFill>
            <a:schemeClr val="accent2">
              <a:lumMod val="75000"/>
            </a:schemeClr>
          </a:solidFill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4B9092D-46D3-4724-A230-51F43D78A967}"/>
                </a:ext>
              </a:extLst>
            </p:cNvPr>
            <p:cNvSpPr/>
            <p:nvPr/>
          </p:nvSpPr>
          <p:spPr>
            <a:xfrm>
              <a:off x="11786532" y="360726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5E94C15-EFC4-4DC4-AE91-4D6631C438BE}"/>
                </a:ext>
              </a:extLst>
            </p:cNvPr>
            <p:cNvSpPr/>
            <p:nvPr/>
          </p:nvSpPr>
          <p:spPr>
            <a:xfrm rot="5400000">
              <a:off x="11275944" y="-161122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28287AB-A481-4BDF-BE49-1BBA364237E1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C3328F7-E593-44F8-A55A-576E1E3E973D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pic>
        <p:nvPicPr>
          <p:cNvPr id="18" name="Picture 17" descr="A close up of a logo&#10;&#10;Description automatically generated">
            <a:extLst>
              <a:ext uri="{FF2B5EF4-FFF2-40B4-BE49-F238E27FC236}">
                <a16:creationId xmlns:a16="http://schemas.microsoft.com/office/drawing/2014/main" id="{A88F3CC2-5C5B-4685-8D94-FFC4B5D64CB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1974" y="1606241"/>
            <a:ext cx="2369218" cy="3550188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94BAC35B-0C86-48BD-81AE-8629CCB2734E}"/>
              </a:ext>
            </a:extLst>
          </p:cNvPr>
          <p:cNvSpPr/>
          <p:nvPr/>
        </p:nvSpPr>
        <p:spPr>
          <a:xfrm>
            <a:off x="5448168" y="2049518"/>
            <a:ext cx="4603806" cy="6652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accent2">
                    <a:lumMod val="75000"/>
                  </a:schemeClr>
                </a:solidFill>
              </a:rPr>
              <a:t>T</a:t>
            </a:r>
            <a:r>
              <a:rPr lang="en-IN" sz="3600" b="1" dirty="0">
                <a:solidFill>
                  <a:schemeClr val="accent2">
                    <a:lumMod val="75000"/>
                  </a:schemeClr>
                </a:solidFill>
              </a:rPr>
              <a:t>HANK YOU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7E8DF64-61DB-4438-8664-105788459AD2}"/>
              </a:ext>
            </a:extLst>
          </p:cNvPr>
          <p:cNvSpPr/>
          <p:nvPr/>
        </p:nvSpPr>
        <p:spPr>
          <a:xfrm>
            <a:off x="5448168" y="3128242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Dr. Kaustav Bhowmick</a:t>
            </a:r>
            <a:endParaRPr lang="en-IN" sz="2400" b="1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916C8C7-6436-48A9-9CF7-1AAC7653EAAE}"/>
              </a:ext>
            </a:extLst>
          </p:cNvPr>
          <p:cNvSpPr/>
          <p:nvPr/>
        </p:nvSpPr>
        <p:spPr>
          <a:xfrm>
            <a:off x="5448168" y="3557265"/>
            <a:ext cx="749721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Department of Electronics &amp; Communication </a:t>
            </a:r>
          </a:p>
          <a:p>
            <a:r>
              <a:rPr lang="en-US" sz="2400" dirty="0"/>
              <a:t>Engineering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4595037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2845</TotalTime>
  <Words>1049</Words>
  <Application>Microsoft Office PowerPoint</Application>
  <PresentationFormat>Widescreen</PresentationFormat>
  <Paragraphs>149</Paragraphs>
  <Slides>68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68</vt:i4>
      </vt:variant>
    </vt:vector>
  </HeadingPairs>
  <TitlesOfParts>
    <vt:vector size="73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Krishna Venkataram</dc:creator>
  <cp:lastModifiedBy>Kaustav Bhowmick</cp:lastModifiedBy>
  <cp:revision>191</cp:revision>
  <dcterms:created xsi:type="dcterms:W3CDTF">2020-06-03T14:19:11Z</dcterms:created>
  <dcterms:modified xsi:type="dcterms:W3CDTF">2026-08-24T03:33:13Z</dcterms:modified>
</cp:coreProperties>
</file>